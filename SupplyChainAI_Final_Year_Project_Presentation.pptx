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creenshot 2026-09-28 234056.png"/>
          <p:cNvPicPr>
            <a:picLocks noChangeAspect="1"/>
          </p:cNvPicPr>
          <p:nvPr/>
        </p:nvPicPr>
        <p:blipFill>
          <a:blip r:embed="rId2"/>
          <a:stretch>
            <a:fillRect/>
          </a:stretch>
        </p:blipFill>
        <p:spPr>
          <a:xfrm>
            <a:off x="5440680" y="594360"/>
            <a:ext cx="851560" cy="1280160"/>
          </a:xfrm>
          <a:prstGeom prst="rect">
            <a:avLst/>
          </a:prstGeom>
        </p:spPr>
      </p:pic>
      <p:sp>
        <p:nvSpPr>
          <p:cNvPr id="4" name="TextBox 3"/>
          <p:cNvSpPr txBox="1"/>
          <p:nvPr/>
        </p:nvSpPr>
        <p:spPr>
          <a:xfrm>
            <a:off x="914400" y="1965960"/>
            <a:ext cx="10362895" cy="640080"/>
          </a:xfrm>
          <a:prstGeom prst="rect">
            <a:avLst/>
          </a:prstGeom>
          <a:noFill/>
        </p:spPr>
        <p:txBody>
          <a:bodyPr wrap="square">
            <a:spAutoFit/>
          </a:bodyPr>
          <a:lstStyle/>
          <a:p>
            <a:pPr algn="ctr">
              <a:defRPr sz="2400" b="1">
                <a:solidFill>
                  <a:srgbClr val="FFFFFF"/>
                </a:solidFill>
              </a:defRPr>
            </a:pPr>
            <a:r>
              <a:t>RAJALAKSHMI ENGINEERING COLLEGE</a:t>
            </a:r>
          </a:p>
          <a:p>
            <a:pPr algn="ctr">
              <a:defRPr sz="1100">
                <a:solidFill>
                  <a:srgbClr val="D97706"/>
                </a:solidFill>
              </a:defRPr>
            </a:pPr>
            <a:r>
              <a:t>An Autonomous Institution | Affiliated to Anna University, Chennai</a:t>
            </a:r>
          </a:p>
        </p:txBody>
      </p:sp>
      <p:sp>
        <p:nvSpPr>
          <p:cNvPr id="5" name="TextBox 4"/>
          <p:cNvSpPr txBox="1"/>
          <p:nvPr/>
        </p:nvSpPr>
        <p:spPr>
          <a:xfrm>
            <a:off x="1097280" y="2743200"/>
            <a:ext cx="9997135" cy="1188720"/>
          </a:xfrm>
          <a:prstGeom prst="rect">
            <a:avLst/>
          </a:prstGeom>
          <a:noFill/>
        </p:spPr>
        <p:txBody>
          <a:bodyPr wrap="square">
            <a:spAutoFit/>
          </a:bodyPr>
          <a:lstStyle/>
          <a:p>
            <a:pPr algn="ctr">
              <a:defRPr sz="2100" b="1">
                <a:solidFill>
                  <a:srgbClr val="38BDF8"/>
                </a:solidFill>
              </a:defRPr>
            </a:pPr>
            <a:r>
              <a:t>SUPPLYCHAINAI: AN AUTONOMOUS MULTI-AGENT SYSTEM FOR RESILIENT SUPPLY CHAIN RE-PLANNING AND PROCUREMENT OPTIMIZATION</a:t>
            </a:r>
          </a:p>
          <a:p>
            <a:pPr algn="ctr">
              <a:defRPr sz="1300">
                <a:solidFill>
                  <a:srgbClr val="E2E8F0"/>
                </a:solidFill>
              </a:defRPr>
            </a:pPr>
            <a:r>
              <a:t>Final Year Project Presentation  •  Academic Year: 2025–2026</a:t>
            </a:r>
          </a:p>
        </p:txBody>
      </p:sp>
      <p:sp>
        <p:nvSpPr>
          <p:cNvPr id="6" name="Rounded Rectangle 5"/>
          <p:cNvSpPr/>
          <p:nvPr/>
        </p:nvSpPr>
        <p:spPr>
          <a:xfrm>
            <a:off x="1371600" y="4114800"/>
            <a:ext cx="448056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4251960"/>
            <a:ext cx="4114800" cy="1737360"/>
          </a:xfrm>
          <a:prstGeom prst="rect">
            <a:avLst/>
          </a:prstGeom>
          <a:noFill/>
        </p:spPr>
        <p:txBody>
          <a:bodyPr wrap="square">
            <a:spAutoFit/>
          </a:bodyPr>
          <a:lstStyle/>
          <a:p>
            <a:pPr>
              <a:defRPr sz="1100" b="1">
                <a:solidFill>
                  <a:srgbClr val="D97706"/>
                </a:solidFill>
              </a:defRPr>
            </a:pPr>
            <a:r>
              <a:t>PRESENTED BY</a:t>
            </a:r>
          </a:p>
          <a:p>
            <a:pPr>
              <a:defRPr sz="1000">
                <a:solidFill>
                  <a:srgbClr val="F1F5F9"/>
                </a:solidFill>
              </a:defRPr>
            </a:pPr>
            <a:r>
              <a:t>• Student Name: [Student Name 1]   (Reg. No: [Register Number 1])</a:t>
            </a:r>
          </a:p>
          <a:p>
            <a:pPr>
              <a:defRPr sz="1000">
                <a:solidFill>
                  <a:srgbClr val="F1F5F9"/>
                </a:solidFill>
              </a:defRPr>
            </a:pPr>
            <a:r>
              <a:t>• Student Name: [Student Name 2]   (Reg. No: [Register Number 2])</a:t>
            </a:r>
          </a:p>
          <a:p>
            <a:pPr>
              <a:defRPr sz="1000">
                <a:solidFill>
                  <a:srgbClr val="F1F5F9"/>
                </a:solidFill>
              </a:defRPr>
            </a:pPr>
            <a:r>
              <a:t>• Student Name: [Student Name 3]   (Reg. No: [Register Number 3])</a:t>
            </a:r>
          </a:p>
          <a:p>
            <a:pPr>
              <a:defRPr sz="1000">
                <a:solidFill>
                  <a:srgbClr val="F1F5F9"/>
                </a:solidFill>
              </a:defRPr>
            </a:pPr>
            <a:r>
              <a:t>Department of Artificial Intelligence and Machine Learning</a:t>
            </a:r>
          </a:p>
        </p:txBody>
      </p:sp>
      <p:sp>
        <p:nvSpPr>
          <p:cNvPr id="8" name="Rounded Rectangle 7"/>
          <p:cNvSpPr/>
          <p:nvPr/>
        </p:nvSpPr>
        <p:spPr>
          <a:xfrm>
            <a:off x="6339535" y="4114800"/>
            <a:ext cx="4480560"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4251960"/>
            <a:ext cx="4114800" cy="1737360"/>
          </a:xfrm>
          <a:prstGeom prst="rect">
            <a:avLst/>
          </a:prstGeom>
          <a:noFill/>
        </p:spPr>
        <p:txBody>
          <a:bodyPr wrap="square">
            <a:spAutoFit/>
          </a:bodyPr>
          <a:lstStyle/>
          <a:p>
            <a:pPr>
              <a:defRPr sz="1100" b="1">
                <a:solidFill>
                  <a:srgbClr val="D97706"/>
                </a:solidFill>
              </a:defRPr>
            </a:pPr>
            <a:r>
              <a:t>GUIDED BY</a:t>
            </a:r>
          </a:p>
          <a:p>
            <a:pPr>
              <a:defRPr sz="1000">
                <a:solidFill>
                  <a:srgbClr val="F1F5F9"/>
                </a:solidFill>
              </a:defRPr>
            </a:pPr>
            <a:r>
              <a:t>• [Guide Name]</a:t>
            </a:r>
          </a:p>
          <a:p>
            <a:pPr>
              <a:defRPr sz="1000">
                <a:solidFill>
                  <a:srgbClr val="F1F5F9"/>
                </a:solidFill>
              </a:defRPr>
            </a:pPr>
            <a:r>
              <a:t>• [Designation / Assistant Professor]</a:t>
            </a:r>
          </a:p>
          <a:p>
            <a:pPr>
              <a:defRPr sz="1000">
                <a:solidFill>
                  <a:srgbClr val="F1F5F9"/>
                </a:solidFill>
              </a:defRPr>
            </a:pPr>
            <a:r>
              <a:t>• Department of Artificial Intelligence and Machine Learning</a:t>
            </a:r>
          </a:p>
          <a:p>
            <a:pPr>
              <a:defRPr sz="1000">
                <a:solidFill>
                  <a:srgbClr val="F1F5F9"/>
                </a:solidFill>
              </a:defRPr>
            </a:pPr>
            <a:r>
              <a:t>Rajalakshmi Engineering College, Thandalam, Chennai - 602 105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EXECUTIVE SUMMARY</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Project Overview</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2</a:t>
            </a:r>
          </a:p>
        </p:txBody>
      </p:sp>
      <p:sp>
        <p:nvSpPr>
          <p:cNvPr id="8" name="Rounded Rectangle 7"/>
          <p:cNvSpPr/>
          <p:nvPr/>
        </p:nvSpPr>
        <p:spPr>
          <a:xfrm>
            <a:off x="731520" y="1463040"/>
            <a:ext cx="516636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00600" cy="2057400"/>
          </a:xfrm>
          <a:prstGeom prst="rect">
            <a:avLst/>
          </a:prstGeom>
          <a:noFill/>
        </p:spPr>
        <p:txBody>
          <a:bodyPr wrap="square">
            <a:spAutoFit/>
          </a:bodyPr>
          <a:lstStyle/>
          <a:p>
            <a:pPr>
              <a:defRPr sz="1200" b="1">
                <a:solidFill>
                  <a:srgbClr val="1E3A8A"/>
                </a:solidFill>
              </a:defRPr>
            </a:pPr>
            <a:r>
              <a:t>DOMAIN &amp; CHALLENGE ADDRESSED</a:t>
            </a:r>
          </a:p>
          <a:p>
            <a:pPr>
              <a:defRPr sz="1000">
                <a:solidFill>
                  <a:srgbClr val="0F172A"/>
                </a:solidFill>
              </a:defRPr>
            </a:pPr>
            <a:r>
              <a:t>• Domain: Supply Chain Management, Operations Research &amp; Agentic AI.</a:t>
            </a:r>
          </a:p>
          <a:p>
            <a:pPr>
              <a:defRPr sz="1000">
                <a:solidFill>
                  <a:srgbClr val="0F172A"/>
                </a:solidFill>
              </a:defRPr>
            </a:pPr>
            <a:r>
              <a:t>• Core Challenge: Vulnerability of multi-echelon supply networks to sudden disruptions (supplier factory outages, port delays, demand spikes).</a:t>
            </a:r>
          </a:p>
          <a:p>
            <a:pPr>
              <a:defRPr sz="1000">
                <a:solidFill>
                  <a:srgbClr val="0F172A"/>
                </a:solidFill>
              </a:defRPr>
            </a:pPr>
            <a:r>
              <a:t>• Critical Bottleneck: Legacy ERP systems rely on static safety buffers and batch logic; manual recovery takes 4 to 24 hours.</a:t>
            </a:r>
          </a:p>
        </p:txBody>
      </p:sp>
      <p:sp>
        <p:nvSpPr>
          <p:cNvPr id="10" name="Rounded Rectangle 9"/>
          <p:cNvSpPr/>
          <p:nvPr/>
        </p:nvSpPr>
        <p:spPr>
          <a:xfrm>
            <a:off x="6263640" y="1463040"/>
            <a:ext cx="516636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2057400"/>
          </a:xfrm>
          <a:prstGeom prst="rect">
            <a:avLst/>
          </a:prstGeom>
          <a:noFill/>
        </p:spPr>
        <p:txBody>
          <a:bodyPr wrap="square">
            <a:spAutoFit/>
          </a:bodyPr>
          <a:lstStyle/>
          <a:p>
            <a:pPr>
              <a:defRPr sz="1200" b="1">
                <a:solidFill>
                  <a:srgbClr val="1E3A8A"/>
                </a:solidFill>
              </a:defRPr>
            </a:pPr>
            <a:r>
              <a:t>PROPOSED AGENTIC AI ARCHITECTURE</a:t>
            </a:r>
          </a:p>
          <a:p>
            <a:pPr>
              <a:defRPr sz="1000">
                <a:solidFill>
                  <a:srgbClr val="0F172A"/>
                </a:solidFill>
              </a:defRPr>
            </a:pPr>
            <a:r>
              <a:t>• StateGraph Multi-Agent Orchestration: LangGraph state machine coordinating 5 specialized autonomous agents with cyclic replanning.</a:t>
            </a:r>
          </a:p>
          <a:p>
            <a:pPr>
              <a:defRPr sz="1000">
                <a:solidFill>
                  <a:srgbClr val="0F172A"/>
                </a:solidFill>
              </a:defRPr>
            </a:pPr>
            <a:r>
              <a:t>• Deterministic Optimization: Google OR-Tools Mixed-Integer Linear Programming (MILP) guaranteeing mathematical cost optimality.</a:t>
            </a:r>
          </a:p>
          <a:p>
            <a:pPr>
              <a:defRPr sz="1000">
                <a:solidFill>
                  <a:srgbClr val="0F172A"/>
                </a:solidFill>
              </a:defRPr>
            </a:pPr>
            <a:r>
              <a:t>• Hybrid Agentic RAG: Dense vector search (pgvector) + BM25 keyword matching fused via Reciprocal Rank Fusion (RRF) over contracts.</a:t>
            </a:r>
          </a:p>
        </p:txBody>
      </p:sp>
      <p:sp>
        <p:nvSpPr>
          <p:cNvPr id="12" name="Rounded Rectangle 11"/>
          <p:cNvSpPr/>
          <p:nvPr/>
        </p:nvSpPr>
        <p:spPr>
          <a:xfrm>
            <a:off x="731520" y="3977639"/>
            <a:ext cx="516636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4800600" cy="2057400"/>
          </a:xfrm>
          <a:prstGeom prst="rect">
            <a:avLst/>
          </a:prstGeom>
          <a:noFill/>
        </p:spPr>
        <p:txBody>
          <a:bodyPr wrap="square">
            <a:spAutoFit/>
          </a:bodyPr>
          <a:lstStyle/>
          <a:p>
            <a:pPr>
              <a:defRPr sz="1200" b="1">
                <a:solidFill>
                  <a:srgbClr val="1E3A8A"/>
                </a:solidFill>
              </a:defRPr>
            </a:pPr>
            <a:r>
              <a:t>PRIMARY PROJECT OBJECTIVE</a:t>
            </a:r>
          </a:p>
          <a:p>
            <a:pPr>
              <a:defRPr sz="1000">
                <a:solidFill>
                  <a:srgbClr val="0F172A"/>
                </a:solidFill>
              </a:defRPr>
            </a:pPr>
            <a:r>
              <a:t>• Autonomous Closed-Loop Re-Planning: Detect supply chain anomalies, evaluate impacts, retrieve legal SLA constraints, and optimize procurement orders without human latency.</a:t>
            </a:r>
          </a:p>
          <a:p>
            <a:pPr>
              <a:defRPr sz="1000">
                <a:solidFill>
                  <a:srgbClr val="0F172A"/>
                </a:solidFill>
              </a:defRPr>
            </a:pPr>
            <a:r>
              <a:t>• Elimination of AI Hallucinations: Completely decouple qualitative reasoning from numerical budgeting to guarantee 100% constraint adherence.</a:t>
            </a:r>
          </a:p>
        </p:txBody>
      </p:sp>
      <p:sp>
        <p:nvSpPr>
          <p:cNvPr id="14" name="Rounded Rectangle 13"/>
          <p:cNvSpPr/>
          <p:nvPr/>
        </p:nvSpPr>
        <p:spPr>
          <a:xfrm>
            <a:off x="6263640" y="3977639"/>
            <a:ext cx="516636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4114800"/>
            <a:ext cx="4800600" cy="2057400"/>
          </a:xfrm>
          <a:prstGeom prst="rect">
            <a:avLst/>
          </a:prstGeom>
          <a:noFill/>
        </p:spPr>
        <p:txBody>
          <a:bodyPr wrap="square">
            <a:spAutoFit/>
          </a:bodyPr>
          <a:lstStyle/>
          <a:p>
            <a:pPr>
              <a:defRPr sz="1200" b="1">
                <a:solidFill>
                  <a:srgbClr val="1E3A8A"/>
                </a:solidFill>
              </a:defRPr>
            </a:pPr>
            <a:r>
              <a:t>KEY VALIDATED OUTCOMES</a:t>
            </a:r>
          </a:p>
          <a:p>
            <a:pPr>
              <a:defRPr sz="1000">
                <a:solidFill>
                  <a:srgbClr val="0F172A"/>
                </a:solidFill>
              </a:defRPr>
            </a:pPr>
            <a:r>
              <a:t>• Sub-Second Latency: 125 ms re-planning time for 10,000 units across 7 global suppliers; emergency rerouting executed in 71 ms.</a:t>
            </a:r>
          </a:p>
          <a:p>
            <a:pPr>
              <a:defRPr sz="1000">
                <a:solidFill>
                  <a:srgbClr val="0F172A"/>
                </a:solidFill>
              </a:defRPr>
            </a:pPr>
            <a:r>
              <a:t>• 100% Constraint Compliance: Zero capacity violations or minimum order quantity (MOQ) breaches across all benchmark scenarios.</a:t>
            </a:r>
          </a:p>
          <a:p>
            <a:pPr>
              <a:defRPr sz="1000">
                <a:solidFill>
                  <a:srgbClr val="0F172A"/>
                </a:solidFill>
              </a:defRPr>
            </a:pPr>
            <a:r>
              <a:t>• Comprehensive Verification: 19/19 passing automated Pytest tests validating multi-agent state transitions, solver, and RAG grounding.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INTRODUCTION</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1. Introduction: Background &amp; Technological Motivation</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3</a:t>
            </a:r>
          </a:p>
        </p:txBody>
      </p:sp>
      <p:sp>
        <p:nvSpPr>
          <p:cNvPr id="8" name="Rounded Rectangle 7"/>
          <p:cNvSpPr/>
          <p:nvPr/>
        </p:nvSpPr>
        <p:spPr>
          <a:xfrm>
            <a:off x="731520" y="1463040"/>
            <a:ext cx="51663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00600" cy="4480560"/>
          </a:xfrm>
          <a:prstGeom prst="rect">
            <a:avLst/>
          </a:prstGeom>
          <a:noFill/>
        </p:spPr>
        <p:txBody>
          <a:bodyPr wrap="square">
            <a:spAutoFit/>
          </a:bodyPr>
          <a:lstStyle/>
          <a:p>
            <a:pPr>
              <a:defRPr sz="1200" b="1">
                <a:solidFill>
                  <a:srgbClr val="1E3A8A"/>
                </a:solidFill>
              </a:defRPr>
            </a:pPr>
            <a:r>
              <a:t>GLOBAL SUPPLY CHAIN VULNERABILITIES</a:t>
            </a:r>
          </a:p>
          <a:p>
            <a:pPr>
              <a:defRPr sz="950">
                <a:solidFill>
                  <a:srgbClr val="0F172A"/>
                </a:solidFill>
              </a:defRPr>
            </a:pPr>
            <a:r>
              <a:t>• Scale &amp; Criticality: Modern manufacturing and distribution networks manage trillions in global trade across interdependent multi-tier supply networks.</a:t>
            </a:r>
          </a:p>
          <a:p>
            <a:pPr>
              <a:defRPr sz="950">
                <a:solidFill>
                  <a:srgbClr val="0F172A"/>
                </a:solidFill>
              </a:defRPr>
            </a:pPr>
            <a:r>
              <a:t>• Fragility Under Shocks: Geopolitical friction, maritime chokepoints (Red Sea, Panama Canal), and extreme weather trigger severe lead-time inflation and factory stockouts.</a:t>
            </a:r>
          </a:p>
          <a:p>
            <a:pPr>
              <a:defRPr sz="950">
                <a:solidFill>
                  <a:srgbClr val="0F172A"/>
                </a:solidFill>
              </a:defRPr>
            </a:pPr>
            <a:r>
              <a:t>• The High Cost of Latency: Unplanned industrial downtime costs large manufacturers up to $22,000 per minute; stockouts permanently degrade enterprise customer loyalty.</a:t>
            </a:r>
          </a:p>
          <a:p>
            <a:pPr>
              <a:defRPr sz="950">
                <a:solidFill>
                  <a:srgbClr val="0F172A"/>
                </a:solidFill>
              </a:defRPr>
            </a:pPr>
            <a:r>
              <a:t>• Siloed Data Infrastructure: Enterprise data is fractured across isolated WMS, ERP, and TMS systems, preventing holistic end-to-end visibility.</a:t>
            </a:r>
          </a:p>
          <a:p>
            <a:pPr>
              <a:defRPr sz="950">
                <a:solidFill>
                  <a:srgbClr val="0F172A"/>
                </a:solidFill>
              </a:defRPr>
            </a:pPr>
            <a:r>
              <a:t>• Failure of Static Rules: Fixed buffer inventory and heuristic safety thresholds are incapable of dynamically reallocating volume during compounding disruptions.</a:t>
            </a:r>
          </a:p>
        </p:txBody>
      </p:sp>
      <p:sp>
        <p:nvSpPr>
          <p:cNvPr id="10" name="Rounded Rectangle 9"/>
          <p:cNvSpPr/>
          <p:nvPr/>
        </p:nvSpPr>
        <p:spPr>
          <a:xfrm>
            <a:off x="6263640" y="1463040"/>
            <a:ext cx="51663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4480560"/>
          </a:xfrm>
          <a:prstGeom prst="rect">
            <a:avLst/>
          </a:prstGeom>
          <a:noFill/>
        </p:spPr>
        <p:txBody>
          <a:bodyPr wrap="square">
            <a:spAutoFit/>
          </a:bodyPr>
          <a:lstStyle/>
          <a:p>
            <a:pPr>
              <a:defRPr sz="1200" b="1">
                <a:solidFill>
                  <a:srgbClr val="6D28D9"/>
                </a:solidFill>
              </a:defRPr>
            </a:pPr>
            <a:r>
              <a:t>TECHNOLOGICAL PARADIGM TRANSITION</a:t>
            </a:r>
          </a:p>
          <a:p>
            <a:pPr>
              <a:defRPr sz="1000" b="1">
                <a:solidFill>
                  <a:srgbClr val="0F172A"/>
                </a:solidFill>
              </a:defRPr>
            </a:pPr>
            <a:r>
              <a:t>STAGE 1: TRADITIONAL ERP &amp; HEURISTICS</a:t>
            </a:r>
          </a:p>
          <a:p>
            <a:pPr>
              <a:defRPr sz="850">
                <a:solidFill>
                  <a:srgbClr val="475569"/>
                </a:solidFill>
              </a:defRPr>
            </a:pPr>
            <a:r>
              <a:t>Batch nightly runs, static reorder points, hardcoded threshold alerts. Zero predictive reasoning or external market adaptability.</a:t>
            </a:r>
          </a:p>
          <a:p>
            <a:pPr>
              <a:defRPr sz="1000" b="1">
                <a:solidFill>
                  <a:srgbClr val="0F172A"/>
                </a:solidFill>
              </a:defRPr>
            </a:pPr>
            <a:r>
              <a:t>STAGE 2: GENERATIVE AI &amp; CHATBOTS</a:t>
            </a:r>
          </a:p>
          <a:p>
            <a:pPr>
              <a:defRPr sz="850">
                <a:solidFill>
                  <a:srgbClr val="475569"/>
                </a:solidFill>
              </a:defRPr>
            </a:pPr>
            <a:r>
              <a:t>Natural language query synthesis and report summaries. However, prone to hallucinated arithmetic, contract inaccuracies, and zero execution control.</a:t>
            </a:r>
          </a:p>
          <a:p>
            <a:pPr>
              <a:defRPr sz="1000" b="1">
                <a:solidFill>
                  <a:srgbClr val="0F172A"/>
                </a:solidFill>
              </a:defRPr>
            </a:pPr>
            <a:r>
              <a:t>STAGE 3: DISCONNECTED AI AGENTS</a:t>
            </a:r>
          </a:p>
          <a:p>
            <a:pPr>
              <a:defRPr sz="850">
                <a:solidFill>
                  <a:srgbClr val="475569"/>
                </a:solidFill>
              </a:defRPr>
            </a:pPr>
            <a:r>
              <a:t>Isolated single-prompt agents with tool calling. Lack stateful memory, cyclic self-correction, or multi-echelon coordination.</a:t>
            </a:r>
          </a:p>
          <a:p>
            <a:pPr>
              <a:defRPr sz="1000" b="1">
                <a:solidFill>
                  <a:srgbClr val="0F172A"/>
                </a:solidFill>
              </a:defRPr>
            </a:pPr>
            <a:r>
              <a:t>STAGE 4: AGENTIC AI (SUPPLYCHAINAI)</a:t>
            </a:r>
          </a:p>
          <a:p>
            <a:pPr>
              <a:defRPr sz="850">
                <a:solidFill>
                  <a:srgbClr val="475569"/>
                </a:solidFill>
              </a:defRPr>
            </a:pPr>
            <a:r>
              <a:t>StateGraph multi-agent orchestration combining LLM semantic reasoning with deterministic MILP solvers, hybrid RAG, and Human-in-the-Loop governance.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SYSTEM RATIONALE</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Need for Agentic AI in Enterprise Supply Networks</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4</a:t>
            </a:r>
          </a:p>
        </p:txBody>
      </p:sp>
      <p:sp>
        <p:nvSpPr>
          <p:cNvPr id="8" name="Rounded Rectangle 7"/>
          <p:cNvSpPr/>
          <p:nvPr/>
        </p:nvSpPr>
        <p:spPr>
          <a:xfrm>
            <a:off x="731520" y="1463040"/>
            <a:ext cx="2468880" cy="1280160"/>
          </a:xfrm>
          <a:prstGeom prst="roundRect">
            <a:avLst/>
          </a:prstGeom>
          <a:solidFill>
            <a:srgbClr val="FFFFFF"/>
          </a:solidFill>
          <a:ln w="1524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2286000" cy="1097280"/>
          </a:xfrm>
          <a:prstGeom prst="rect">
            <a:avLst/>
          </a:prstGeom>
          <a:noFill/>
        </p:spPr>
        <p:txBody>
          <a:bodyPr wrap="square">
            <a:spAutoFit/>
          </a:bodyPr>
          <a:lstStyle/>
          <a:p>
            <a:pPr>
              <a:defRPr sz="1100" b="1">
                <a:solidFill>
                  <a:srgbClr val="475569"/>
                </a:solidFill>
              </a:defRPr>
            </a:pPr>
            <a:r>
              <a:t>Step 1: Traditional AI</a:t>
            </a:r>
          </a:p>
          <a:p>
            <a:pPr>
              <a:defRPr sz="850">
                <a:solidFill>
                  <a:srgbClr val="0F172A"/>
                </a:solidFill>
              </a:defRPr>
            </a:pPr>
            <a:r>
              <a:t>Static Heuristics</a:t>
            </a:r>
            <a:br/>
            <a:r>
              <a:t>Batch ERP</a:t>
            </a:r>
            <a:br/>
            <a:r>
              <a:t>Fixed Buffers</a:t>
            </a:r>
          </a:p>
        </p:txBody>
      </p:sp>
      <p:sp>
        <p:nvSpPr>
          <p:cNvPr id="10" name="Rounded Rectangle 9"/>
          <p:cNvSpPr/>
          <p:nvPr/>
        </p:nvSpPr>
        <p:spPr>
          <a:xfrm>
            <a:off x="3429000" y="1463040"/>
            <a:ext cx="2468880" cy="128016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54480"/>
            <a:ext cx="2286000" cy="1097280"/>
          </a:xfrm>
          <a:prstGeom prst="rect">
            <a:avLst/>
          </a:prstGeom>
          <a:noFill/>
        </p:spPr>
        <p:txBody>
          <a:bodyPr wrap="square">
            <a:spAutoFit/>
          </a:bodyPr>
          <a:lstStyle/>
          <a:p>
            <a:pPr>
              <a:defRPr sz="1100" b="1">
                <a:solidFill>
                  <a:srgbClr val="1E3A8A"/>
                </a:solidFill>
              </a:defRPr>
            </a:pPr>
            <a:r>
              <a:t>Step 2: Generative AI</a:t>
            </a:r>
          </a:p>
          <a:p>
            <a:pPr>
              <a:defRPr sz="850">
                <a:solidFill>
                  <a:srgbClr val="0F172A"/>
                </a:solidFill>
              </a:defRPr>
            </a:pPr>
            <a:r>
              <a:t>Text Completion</a:t>
            </a:r>
            <a:br/>
            <a:r>
              <a:t>Summary Chatbots</a:t>
            </a:r>
            <a:br/>
            <a:r>
              <a:t>Prone to Hallucination</a:t>
            </a:r>
          </a:p>
        </p:txBody>
      </p:sp>
      <p:sp>
        <p:nvSpPr>
          <p:cNvPr id="12" name="Rounded Rectangle 11"/>
          <p:cNvSpPr/>
          <p:nvPr/>
        </p:nvSpPr>
        <p:spPr>
          <a:xfrm>
            <a:off x="6126480" y="1463040"/>
            <a:ext cx="2468880" cy="128016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554480"/>
            <a:ext cx="2286000" cy="1097280"/>
          </a:xfrm>
          <a:prstGeom prst="rect">
            <a:avLst/>
          </a:prstGeom>
          <a:noFill/>
        </p:spPr>
        <p:txBody>
          <a:bodyPr wrap="square">
            <a:spAutoFit/>
          </a:bodyPr>
          <a:lstStyle/>
          <a:p>
            <a:pPr>
              <a:defRPr sz="1100" b="1">
                <a:solidFill>
                  <a:srgbClr val="6D28D9"/>
                </a:solidFill>
              </a:defRPr>
            </a:pPr>
            <a:r>
              <a:t>Step 3: AI Agents</a:t>
            </a:r>
          </a:p>
          <a:p>
            <a:pPr>
              <a:defRPr sz="850">
                <a:solidFill>
                  <a:srgbClr val="0F172A"/>
                </a:solidFill>
              </a:defRPr>
            </a:pPr>
            <a:r>
              <a:t>Prompted Tool Calling</a:t>
            </a:r>
            <a:br/>
            <a:r>
              <a:t>Isolated Execution</a:t>
            </a:r>
            <a:br/>
            <a:r>
              <a:t>No Reflexive Loop</a:t>
            </a:r>
          </a:p>
        </p:txBody>
      </p:sp>
      <p:sp>
        <p:nvSpPr>
          <p:cNvPr id="14" name="Rounded Rectangle 13"/>
          <p:cNvSpPr/>
          <p:nvPr/>
        </p:nvSpPr>
        <p:spPr>
          <a:xfrm>
            <a:off x="8823960" y="1463040"/>
            <a:ext cx="2468880" cy="128016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1554480"/>
            <a:ext cx="2286000" cy="1097280"/>
          </a:xfrm>
          <a:prstGeom prst="rect">
            <a:avLst/>
          </a:prstGeom>
          <a:noFill/>
        </p:spPr>
        <p:txBody>
          <a:bodyPr wrap="square">
            <a:spAutoFit/>
          </a:bodyPr>
          <a:lstStyle/>
          <a:p>
            <a:pPr>
              <a:defRPr sz="1100" b="1">
                <a:solidFill>
                  <a:srgbClr val="0284C7"/>
                </a:solidFill>
              </a:defRPr>
            </a:pPr>
            <a:r>
              <a:t>Step 4: Agentic AI</a:t>
            </a:r>
          </a:p>
          <a:p>
            <a:pPr>
              <a:defRPr sz="850">
                <a:solidFill>
                  <a:srgbClr val="0F172A"/>
                </a:solidFill>
              </a:defRPr>
            </a:pPr>
            <a:r>
              <a:t>Stateful Orchestration</a:t>
            </a:r>
            <a:br/>
            <a:r>
              <a:t>MILP Exact Solvers</a:t>
            </a:r>
            <a:br/>
            <a:r>
              <a:t>Closed-Loop Self-Repair</a:t>
            </a:r>
          </a:p>
        </p:txBody>
      </p:sp>
      <p:sp>
        <p:nvSpPr>
          <p:cNvPr id="16" name="Rounded Rectangle 15"/>
          <p:cNvSpPr/>
          <p:nvPr/>
        </p:nvSpPr>
        <p:spPr>
          <a:xfrm>
            <a:off x="731520" y="297180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108960"/>
            <a:ext cx="3108960" cy="3017520"/>
          </a:xfrm>
          <a:prstGeom prst="rect">
            <a:avLst/>
          </a:prstGeom>
          <a:noFill/>
        </p:spPr>
        <p:txBody>
          <a:bodyPr wrap="square">
            <a:spAutoFit/>
          </a:bodyPr>
          <a:lstStyle/>
          <a:p>
            <a:pPr>
              <a:defRPr sz="1100" b="1">
                <a:solidFill>
                  <a:srgbClr val="1E3A8A"/>
                </a:solidFill>
              </a:defRPr>
            </a:pPr>
            <a:r>
              <a:t>AUTONOMOUS DECOMPOSITION</a:t>
            </a:r>
          </a:p>
          <a:p>
            <a:pPr>
              <a:defRPr sz="900">
                <a:solidFill>
                  <a:srgbClr val="0F172A"/>
                </a:solidFill>
              </a:defRPr>
            </a:pPr>
            <a:r>
              <a:t>• Complex Problem Formulation: Translates ambiguous real-world alerts ('Red Sea route closed') into structured operational sub-tasks.</a:t>
            </a:r>
          </a:p>
          <a:p>
            <a:pPr>
              <a:defRPr sz="900">
                <a:solidFill>
                  <a:srgbClr val="0F172A"/>
                </a:solidFill>
              </a:defRPr>
            </a:pPr>
            <a:r>
              <a:t>• Dynamic Specialist Dispatch: Dispatches inventory, supplier risk, and logistics sub-problems concurrently.</a:t>
            </a:r>
          </a:p>
          <a:p>
            <a:pPr>
              <a:defRPr sz="900">
                <a:solidFill>
                  <a:srgbClr val="0F172A"/>
                </a:solidFill>
              </a:defRPr>
            </a:pPr>
            <a:r>
              <a:t>• Context Preservation: StateGraph retains intermediate hypotheses across execution turns.</a:t>
            </a:r>
          </a:p>
        </p:txBody>
      </p:sp>
      <p:sp>
        <p:nvSpPr>
          <p:cNvPr id="18" name="Rounded Rectangle 17"/>
          <p:cNvSpPr/>
          <p:nvPr/>
        </p:nvSpPr>
        <p:spPr>
          <a:xfrm>
            <a:off x="4343400" y="297180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3108960"/>
            <a:ext cx="3108960" cy="3017520"/>
          </a:xfrm>
          <a:prstGeom prst="rect">
            <a:avLst/>
          </a:prstGeom>
          <a:noFill/>
        </p:spPr>
        <p:txBody>
          <a:bodyPr wrap="square">
            <a:spAutoFit/>
          </a:bodyPr>
          <a:lstStyle/>
          <a:p>
            <a:pPr>
              <a:defRPr sz="1100" b="1">
                <a:solidFill>
                  <a:srgbClr val="1E3A8A"/>
                </a:solidFill>
              </a:defRPr>
            </a:pPr>
            <a:r>
              <a:t>DETERMINISTIC TOOL SYNERGY</a:t>
            </a:r>
          </a:p>
          <a:p>
            <a:pPr>
              <a:defRPr sz="900">
                <a:solidFill>
                  <a:srgbClr val="0F172A"/>
                </a:solidFill>
              </a:defRPr>
            </a:pPr>
            <a:r>
              <a:t>• Neuro-Symbolic Decoupling: Offloads mathematical calculations entirely to Google OR-Tools CBC/SCIP solvers.</a:t>
            </a:r>
          </a:p>
          <a:p>
            <a:pPr>
              <a:defRPr sz="900">
                <a:solidFill>
                  <a:srgbClr val="0F172A"/>
                </a:solidFill>
              </a:defRPr>
            </a:pPr>
            <a:r>
              <a:t>• Zero Hallucination: Quantities, unit costs, and delivery dates are mathematically guaranteed.</a:t>
            </a:r>
          </a:p>
          <a:p>
            <a:pPr>
              <a:defRPr sz="900">
                <a:solidFill>
                  <a:srgbClr val="0F172A"/>
                </a:solidFill>
              </a:defRPr>
            </a:pPr>
            <a:r>
              <a:t>• Real-Time Enterprise DB Access: Interrogates live inventory levels and supplier quotas on demand.</a:t>
            </a:r>
          </a:p>
        </p:txBody>
      </p:sp>
      <p:sp>
        <p:nvSpPr>
          <p:cNvPr id="20" name="Rounded Rectangle 19"/>
          <p:cNvSpPr/>
          <p:nvPr/>
        </p:nvSpPr>
        <p:spPr>
          <a:xfrm>
            <a:off x="7955280" y="297180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3108960"/>
            <a:ext cx="3108960" cy="3017520"/>
          </a:xfrm>
          <a:prstGeom prst="rect">
            <a:avLst/>
          </a:prstGeom>
          <a:noFill/>
        </p:spPr>
        <p:txBody>
          <a:bodyPr wrap="square">
            <a:spAutoFit/>
          </a:bodyPr>
          <a:lstStyle/>
          <a:p>
            <a:pPr>
              <a:defRPr sz="1100" b="1">
                <a:solidFill>
                  <a:srgbClr val="1E3A8A"/>
                </a:solidFill>
              </a:defRPr>
            </a:pPr>
            <a:r>
              <a:t>REFLECTIVE SELF-CORRECTION</a:t>
            </a:r>
          </a:p>
          <a:p>
            <a:pPr>
              <a:defRPr sz="900">
                <a:solidFill>
                  <a:srgbClr val="0F172A"/>
                </a:solidFill>
              </a:defRPr>
            </a:pPr>
            <a:r>
              <a:t>• Constraint Validation: Evaluator agent audits proposed plans against business SLAs before approval.</a:t>
            </a:r>
          </a:p>
          <a:p>
            <a:pPr>
              <a:defRPr sz="900">
                <a:solidFill>
                  <a:srgbClr val="0F172A"/>
                </a:solidFill>
              </a:defRPr>
            </a:pPr>
            <a:r>
              <a:t>• Automated Cyclic Recovery: If capacity is exceeded, state loops back to re-plan with updated bounds.</a:t>
            </a:r>
          </a:p>
          <a:p>
            <a:pPr>
              <a:defRPr sz="900">
                <a:solidFill>
                  <a:srgbClr val="0F172A"/>
                </a:solidFill>
              </a:defRPr>
            </a:pPr>
            <a:r>
              <a:t>• Human-in-the-Loop Gate: Presents auditable, explainable mitigation proposals for one-click human sign-off.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OBJECTIVES</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Project Objectives: Engineering an Autonomous Framework</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5</a:t>
            </a:r>
          </a:p>
        </p:txBody>
      </p:sp>
      <p:sp>
        <p:nvSpPr>
          <p:cNvPr id="8" name="Rounded Rectangle 7"/>
          <p:cNvSpPr/>
          <p:nvPr/>
        </p:nvSpPr>
        <p:spPr>
          <a:xfrm>
            <a:off x="731520" y="1463040"/>
            <a:ext cx="10728655" cy="86868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00200"/>
            <a:ext cx="594360" cy="5943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10" name="TextBox 9"/>
          <p:cNvSpPr txBox="1"/>
          <p:nvPr/>
        </p:nvSpPr>
        <p:spPr>
          <a:xfrm>
            <a:off x="1600200" y="1536192"/>
            <a:ext cx="9692640" cy="731520"/>
          </a:xfrm>
          <a:prstGeom prst="rect">
            <a:avLst/>
          </a:prstGeom>
          <a:noFill/>
        </p:spPr>
        <p:txBody>
          <a:bodyPr wrap="square">
            <a:spAutoFit/>
          </a:bodyPr>
          <a:lstStyle/>
          <a:p>
            <a:pPr>
              <a:defRPr sz="1100" b="1">
                <a:solidFill>
                  <a:srgbClr val="0F172A"/>
                </a:solidFill>
              </a:defRPr>
            </a:pPr>
            <a:r>
              <a:t>1. Multi-Agent Orchestration Engine</a:t>
            </a:r>
          </a:p>
          <a:p>
            <a:pPr>
              <a:defRPr sz="900">
                <a:solidFill>
                  <a:srgbClr val="475569"/>
                </a:solidFill>
              </a:defRPr>
            </a:pPr>
            <a:r>
              <a:t>Design and implement a coordinated multi-agent architecture using LangGraph StateGraph, featuring dedicated specialist agents for Inventory Analysis, Supplier Risk Assessment, Logistics Routing, and Procurement Re-Planning.</a:t>
            </a:r>
          </a:p>
        </p:txBody>
      </p:sp>
      <p:sp>
        <p:nvSpPr>
          <p:cNvPr id="11" name="Rounded Rectangle 10"/>
          <p:cNvSpPr/>
          <p:nvPr/>
        </p:nvSpPr>
        <p:spPr>
          <a:xfrm>
            <a:off x="731520" y="2423160"/>
            <a:ext cx="10728655" cy="86868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560320"/>
            <a:ext cx="594360" cy="5943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13" name="TextBox 12"/>
          <p:cNvSpPr txBox="1"/>
          <p:nvPr/>
        </p:nvSpPr>
        <p:spPr>
          <a:xfrm>
            <a:off x="1600200" y="2496312"/>
            <a:ext cx="9692640" cy="731520"/>
          </a:xfrm>
          <a:prstGeom prst="rect">
            <a:avLst/>
          </a:prstGeom>
          <a:noFill/>
        </p:spPr>
        <p:txBody>
          <a:bodyPr wrap="square">
            <a:spAutoFit/>
          </a:bodyPr>
          <a:lstStyle/>
          <a:p>
            <a:pPr>
              <a:defRPr sz="1100" b="1">
                <a:solidFill>
                  <a:srgbClr val="0F172A"/>
                </a:solidFill>
              </a:defRPr>
            </a:pPr>
            <a:r>
              <a:t>2. Mathematical Optimization Integration</a:t>
            </a:r>
          </a:p>
          <a:p>
            <a:pPr>
              <a:defRPr sz="900">
                <a:solidFill>
                  <a:srgbClr val="475569"/>
                </a:solidFill>
              </a:defRPr>
            </a:pPr>
            <a:r>
              <a:t>Decouple qualitative natural language reasoning from numerical allocation by embedding Google OR-Tools Mixed-Integer Linear Programming (MILP) to guarantee mathematically optimal, least-cost procurement under capacity constraints.</a:t>
            </a:r>
          </a:p>
        </p:txBody>
      </p:sp>
      <p:sp>
        <p:nvSpPr>
          <p:cNvPr id="14" name="Rounded Rectangle 13"/>
          <p:cNvSpPr/>
          <p:nvPr/>
        </p:nvSpPr>
        <p:spPr>
          <a:xfrm>
            <a:off x="731520" y="3383280"/>
            <a:ext cx="10728655" cy="8686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3520440"/>
            <a:ext cx="594360" cy="5943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6" name="TextBox 15"/>
          <p:cNvSpPr txBox="1"/>
          <p:nvPr/>
        </p:nvSpPr>
        <p:spPr>
          <a:xfrm>
            <a:off x="1600200" y="3456432"/>
            <a:ext cx="9692640" cy="731520"/>
          </a:xfrm>
          <a:prstGeom prst="rect">
            <a:avLst/>
          </a:prstGeom>
          <a:noFill/>
        </p:spPr>
        <p:txBody>
          <a:bodyPr wrap="square">
            <a:spAutoFit/>
          </a:bodyPr>
          <a:lstStyle/>
          <a:p>
            <a:pPr>
              <a:defRPr sz="1100" b="1">
                <a:solidFill>
                  <a:srgbClr val="0F172A"/>
                </a:solidFill>
              </a:defRPr>
            </a:pPr>
            <a:r>
              <a:t>3. Hybrid Agentic RAG Knowledge Pipeline</a:t>
            </a:r>
          </a:p>
          <a:p>
            <a:pPr>
              <a:defRPr sz="900">
                <a:solidFill>
                  <a:srgbClr val="475569"/>
                </a:solidFill>
              </a:defRPr>
            </a:pPr>
            <a:r>
              <a:t>Construct a dual-stream retrieval-augmented generation pipeline combining 768-dimensional dense vector embeddings (pgvector) and sparse BM25 lexical search fused via Reciprocal Rank Fusion (RRF) over supplier contracts and SOPs.</a:t>
            </a:r>
          </a:p>
        </p:txBody>
      </p:sp>
      <p:sp>
        <p:nvSpPr>
          <p:cNvPr id="17" name="Rounded Rectangle 16"/>
          <p:cNvSpPr/>
          <p:nvPr/>
        </p:nvSpPr>
        <p:spPr>
          <a:xfrm>
            <a:off x="731520" y="4343400"/>
            <a:ext cx="10728655" cy="86868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4480560"/>
            <a:ext cx="594360" cy="5943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9" name="TextBox 18"/>
          <p:cNvSpPr txBox="1"/>
          <p:nvPr/>
        </p:nvSpPr>
        <p:spPr>
          <a:xfrm>
            <a:off x="1600200" y="4416552"/>
            <a:ext cx="9692640" cy="731520"/>
          </a:xfrm>
          <a:prstGeom prst="rect">
            <a:avLst/>
          </a:prstGeom>
          <a:noFill/>
        </p:spPr>
        <p:txBody>
          <a:bodyPr wrap="square">
            <a:spAutoFit/>
          </a:bodyPr>
          <a:lstStyle/>
          <a:p>
            <a:pPr>
              <a:defRPr sz="1100" b="1">
                <a:solidFill>
                  <a:srgbClr val="0F172A"/>
                </a:solidFill>
              </a:defRPr>
            </a:pPr>
            <a:r>
              <a:t>4. Interactive Disruption Sandbox (What-If)</a:t>
            </a:r>
          </a:p>
          <a:p>
            <a:pPr>
              <a:defRPr sz="900">
                <a:solidFill>
                  <a:srgbClr val="475569"/>
                </a:solidFill>
              </a:defRPr>
            </a:pPr>
            <a:r>
              <a:t>Build an interactive simulation engine allowing supply chain managers to inject synthetic disruptions (supplier plant shutdowns, maritime route blocks, tariff spikes) and evaluate sub-second mitigation re-plans.</a:t>
            </a:r>
          </a:p>
        </p:txBody>
      </p:sp>
      <p:sp>
        <p:nvSpPr>
          <p:cNvPr id="20" name="Rounded Rectangle 19"/>
          <p:cNvSpPr/>
          <p:nvPr/>
        </p:nvSpPr>
        <p:spPr>
          <a:xfrm>
            <a:off x="731520" y="5303520"/>
            <a:ext cx="10728655" cy="8686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5440680"/>
            <a:ext cx="59436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22" name="TextBox 21"/>
          <p:cNvSpPr txBox="1"/>
          <p:nvPr/>
        </p:nvSpPr>
        <p:spPr>
          <a:xfrm>
            <a:off x="1600200" y="5376672"/>
            <a:ext cx="9692640" cy="731520"/>
          </a:xfrm>
          <a:prstGeom prst="rect">
            <a:avLst/>
          </a:prstGeom>
          <a:noFill/>
        </p:spPr>
        <p:txBody>
          <a:bodyPr wrap="square">
            <a:spAutoFit/>
          </a:bodyPr>
          <a:lstStyle/>
          <a:p>
            <a:pPr>
              <a:defRPr sz="1100" b="1">
                <a:solidFill>
                  <a:srgbClr val="0F172A"/>
                </a:solidFill>
              </a:defRPr>
            </a:pPr>
            <a:r>
              <a:t>5. Enterprise Governance &amp; Auditability</a:t>
            </a:r>
          </a:p>
          <a:p>
            <a:pPr>
              <a:defRPr sz="900">
                <a:solidFill>
                  <a:srgbClr val="475569"/>
                </a:solidFill>
              </a:defRPr>
            </a:pPr>
            <a:r>
              <a:t>Enforce a Human-in-the-Loop (HITL) approval gate and immutable JSON decision logging to ensure all automated actions maintain zero-hallucination compliance, full transparency, and audit readiness.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PROBLEM &amp; BUSINESS CASE</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2. Problem Statement &amp; Business Case</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6</a:t>
            </a:r>
          </a:p>
        </p:txBody>
      </p:sp>
      <p:sp>
        <p:nvSpPr>
          <p:cNvPr id="8" name="Rounded Rectangle 7"/>
          <p:cNvSpPr/>
          <p:nvPr/>
        </p:nvSpPr>
        <p:spPr>
          <a:xfrm>
            <a:off x="731520" y="1463040"/>
            <a:ext cx="3383280" cy="438912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3108960" cy="4114800"/>
          </a:xfrm>
          <a:prstGeom prst="rect">
            <a:avLst/>
          </a:prstGeom>
          <a:noFill/>
        </p:spPr>
        <p:txBody>
          <a:bodyPr wrap="square">
            <a:spAutoFit/>
          </a:bodyPr>
          <a:lstStyle/>
          <a:p>
            <a:pPr>
              <a:defRPr sz="1200" b="1">
                <a:solidFill>
                  <a:srgbClr val="EF4444"/>
                </a:solidFill>
              </a:defRPr>
            </a:pPr>
            <a:r>
              <a:t>CORE PROBLEM</a:t>
            </a:r>
          </a:p>
          <a:p>
            <a:pPr>
              <a:defRPr sz="950">
                <a:solidFill>
                  <a:srgbClr val="0F172A"/>
                </a:solidFill>
              </a:defRPr>
            </a:pPr>
            <a:r>
              <a:t>• Extreme Fragility: Multi-tier supply chains lack real-time visibility into tier-1 and tier-2 vendor dependencies.</a:t>
            </a:r>
          </a:p>
          <a:p>
            <a:pPr>
              <a:defRPr sz="950">
                <a:solidFill>
                  <a:srgbClr val="0F172A"/>
                </a:solidFill>
              </a:defRPr>
            </a:pPr>
            <a:r>
              <a:t>• Static Buffer Failure: Conventional safety stock rules assume normal distributions, failing catastrophically under 'black swan' disruptions.</a:t>
            </a:r>
          </a:p>
          <a:p>
            <a:pPr>
              <a:defRPr sz="950">
                <a:solidFill>
                  <a:srgbClr val="0F172A"/>
                </a:solidFill>
              </a:defRPr>
            </a:pPr>
            <a:r>
              <a:t>• Data Fragmentation: Inventory counts, vendor risk, and transit updates reside in disconnected enterprise silos.</a:t>
            </a:r>
          </a:p>
          <a:p>
            <a:pPr>
              <a:defRPr sz="950">
                <a:solidFill>
                  <a:srgbClr val="0F172A"/>
                </a:solidFill>
              </a:defRPr>
            </a:pPr>
            <a:r>
              <a:t>• Hallucination Risk: Generative AI cannot be used raw due to arithmetic errors and unverified contract interpretations.</a:t>
            </a:r>
          </a:p>
        </p:txBody>
      </p:sp>
      <p:sp>
        <p:nvSpPr>
          <p:cNvPr id="10" name="Rounded Rectangle 9"/>
          <p:cNvSpPr/>
          <p:nvPr/>
        </p:nvSpPr>
        <p:spPr>
          <a:xfrm>
            <a:off x="4389120" y="1463040"/>
            <a:ext cx="3383280" cy="438912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600200"/>
            <a:ext cx="3108960" cy="4114800"/>
          </a:xfrm>
          <a:prstGeom prst="rect">
            <a:avLst/>
          </a:prstGeom>
          <a:noFill/>
        </p:spPr>
        <p:txBody>
          <a:bodyPr wrap="square">
            <a:spAutoFit/>
          </a:bodyPr>
          <a:lstStyle/>
          <a:p>
            <a:pPr>
              <a:defRPr sz="1200" b="1">
                <a:solidFill>
                  <a:srgbClr val="D97706"/>
                </a:solidFill>
              </a:defRPr>
            </a:pPr>
            <a:r>
              <a:t>ENTERPRISE &amp; BUSINESS IMPACT</a:t>
            </a:r>
          </a:p>
          <a:p>
            <a:pPr>
              <a:defRPr sz="950">
                <a:solidFill>
                  <a:srgbClr val="0F172A"/>
                </a:solidFill>
              </a:defRPr>
            </a:pPr>
            <a:r>
              <a:t>• Severe Financial Losses: Unplanned plant downtime costs automotive and tech firms $22,000+ per minute ($1.3M/hr).</a:t>
            </a:r>
          </a:p>
          <a:p>
            <a:pPr>
              <a:defRPr sz="950">
                <a:solidFill>
                  <a:srgbClr val="0F172A"/>
                </a:solidFill>
              </a:defRPr>
            </a:pPr>
            <a:r>
              <a:t>• Manual Triage Latency: Planners spend 4 to 24 hours manually consolidating spreadsheets, causing stockouts.</a:t>
            </a:r>
          </a:p>
          <a:p>
            <a:pPr>
              <a:defRPr sz="950">
                <a:solidFill>
                  <a:srgbClr val="0F172A"/>
                </a:solidFill>
              </a:defRPr>
            </a:pPr>
            <a:r>
              <a:t>• Premium Freight Penalties: Reactive expediting via air freight inflates logistics costs by up to 300%.</a:t>
            </a:r>
          </a:p>
          <a:p>
            <a:pPr>
              <a:defRPr sz="950">
                <a:solidFill>
                  <a:srgbClr val="0F172A"/>
                </a:solidFill>
              </a:defRPr>
            </a:pPr>
            <a:r>
              <a:t>• Contractual Breach: Unnoticed SLA terms and missed force majeure clauses lead to unrecovered vendor penalties.</a:t>
            </a:r>
          </a:p>
        </p:txBody>
      </p:sp>
      <p:sp>
        <p:nvSpPr>
          <p:cNvPr id="12" name="Rounded Rectangle 11"/>
          <p:cNvSpPr/>
          <p:nvPr/>
        </p:nvSpPr>
        <p:spPr>
          <a:xfrm>
            <a:off x="8046720" y="1463040"/>
            <a:ext cx="3383280" cy="43891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1600200"/>
            <a:ext cx="3108960" cy="4114800"/>
          </a:xfrm>
          <a:prstGeom prst="rect">
            <a:avLst/>
          </a:prstGeom>
          <a:noFill/>
        </p:spPr>
        <p:txBody>
          <a:bodyPr wrap="square">
            <a:spAutoFit/>
          </a:bodyPr>
          <a:lstStyle/>
          <a:p>
            <a:pPr>
              <a:defRPr sz="1200" b="1">
                <a:solidFill>
                  <a:srgbClr val="10B981"/>
                </a:solidFill>
              </a:defRPr>
            </a:pPr>
            <a:r>
              <a:t>PROPOSED AGENTIC DIRECTION</a:t>
            </a:r>
          </a:p>
          <a:p>
            <a:pPr>
              <a:defRPr sz="950">
                <a:solidFill>
                  <a:srgbClr val="0F172A"/>
                </a:solidFill>
              </a:defRPr>
            </a:pPr>
            <a:r>
              <a:t>• Autonomous Multi-Agent Triaging: Continuous background anomaly monitoring and automatic goal decomposition.</a:t>
            </a:r>
          </a:p>
          <a:p>
            <a:pPr>
              <a:defRPr sz="950">
                <a:solidFill>
                  <a:srgbClr val="0F172A"/>
                </a:solidFill>
              </a:defRPr>
            </a:pPr>
            <a:r>
              <a:t>• Neuro-Symbolic Optimization: Coupling LLM semantic reasoning with Google OR-Tools MILP for exact cost-optimal allocation.</a:t>
            </a:r>
          </a:p>
          <a:p>
            <a:pPr>
              <a:defRPr sz="950">
                <a:solidFill>
                  <a:srgbClr val="0F172A"/>
                </a:solidFill>
              </a:defRPr>
            </a:pPr>
            <a:r>
              <a:t>• Grounded Legal RAG: Hybrid pgvector + BM25 search directly quoting verified contractual clauses and lead times.</a:t>
            </a:r>
          </a:p>
          <a:p>
            <a:pPr>
              <a:defRPr sz="950">
                <a:solidFill>
                  <a:srgbClr val="0F172A"/>
                </a:solidFill>
              </a:defRPr>
            </a:pPr>
            <a:r>
              <a:t>• Human-Governed Execution: Sub-second re-planning with human-in-the-loop oversight and audit logs.</a:t>
            </a:r>
          </a:p>
        </p:txBody>
      </p:sp>
      <p:sp>
        <p:nvSpPr>
          <p:cNvPr id="14" name="Rounded Rectangle 13"/>
          <p:cNvSpPr/>
          <p:nvPr/>
        </p:nvSpPr>
        <p:spPr>
          <a:xfrm>
            <a:off x="731520" y="5989320"/>
            <a:ext cx="10728655" cy="365760"/>
          </a:xfrm>
          <a:prstGeom prst="roundRect">
            <a:avLst/>
          </a:prstGeom>
          <a:solidFill>
            <a:srgbClr val="0F172A"/>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6016752"/>
            <a:ext cx="10362895" cy="274320"/>
          </a:xfrm>
          <a:prstGeom prst="rect">
            <a:avLst/>
          </a:prstGeom>
          <a:noFill/>
        </p:spPr>
        <p:txBody>
          <a:bodyPr wrap="none">
            <a:spAutoFit/>
          </a:bodyPr>
          <a:lstStyle/>
          <a:p>
            <a:pPr algn="ctr">
              <a:defRPr sz="950" b="1">
                <a:solidFill>
                  <a:srgbClr val="FFFFFF"/>
                </a:solidFill>
              </a:defRPr>
            </a:pPr>
            <a:r>
              <a:t>Key Value: SupplyChainAI converts hours of stressful manual spreadsheet firefighting into sub-second, mathematically verified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STAKEHOLDERS</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3. User and Stakeholder Analysis</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7</a:t>
            </a:r>
          </a:p>
        </p:txBody>
      </p:sp>
      <p:sp>
        <p:nvSpPr>
          <p:cNvPr id="8" name="Rounded Rectangle 7"/>
          <p:cNvSpPr/>
          <p:nvPr/>
        </p:nvSpPr>
        <p:spPr>
          <a:xfrm>
            <a:off x="731520" y="1463040"/>
            <a:ext cx="3383280" cy="137160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54480"/>
            <a:ext cx="3108960" cy="1188720"/>
          </a:xfrm>
          <a:prstGeom prst="rect">
            <a:avLst/>
          </a:prstGeom>
          <a:noFill/>
        </p:spPr>
        <p:txBody>
          <a:bodyPr wrap="square">
            <a:spAutoFit/>
          </a:bodyPr>
          <a:lstStyle/>
          <a:p>
            <a:pPr>
              <a:defRPr sz="1100" b="1">
                <a:solidFill>
                  <a:srgbClr val="1E3A8A"/>
                </a:solidFill>
              </a:defRPr>
            </a:pPr>
            <a:r>
              <a:t>Supply Chain Planners</a:t>
            </a:r>
          </a:p>
          <a:p>
            <a:pPr>
              <a:defRPr sz="850">
                <a:solidFill>
                  <a:srgbClr val="0F172A"/>
                </a:solidFill>
              </a:defRPr>
            </a:pPr>
            <a:r>
              <a:t>Require instantaneous disruption triage, inventory health monitoring, and interactive 'What-If' scenario simulation without manual spreadsheet crunching.</a:t>
            </a:r>
          </a:p>
        </p:txBody>
      </p:sp>
      <p:sp>
        <p:nvSpPr>
          <p:cNvPr id="10" name="Rounded Rectangle 9"/>
          <p:cNvSpPr/>
          <p:nvPr/>
        </p:nvSpPr>
        <p:spPr>
          <a:xfrm>
            <a:off x="4343400" y="1463040"/>
            <a:ext cx="3383280" cy="137160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554480"/>
            <a:ext cx="3108960" cy="1188720"/>
          </a:xfrm>
          <a:prstGeom prst="rect">
            <a:avLst/>
          </a:prstGeom>
          <a:noFill/>
        </p:spPr>
        <p:txBody>
          <a:bodyPr wrap="square">
            <a:spAutoFit/>
          </a:bodyPr>
          <a:lstStyle/>
          <a:p>
            <a:pPr>
              <a:defRPr sz="1100" b="1">
                <a:solidFill>
                  <a:srgbClr val="1E3A8A"/>
                </a:solidFill>
              </a:defRPr>
            </a:pPr>
            <a:r>
              <a:t>Procurement Officers</a:t>
            </a:r>
          </a:p>
          <a:p>
            <a:pPr>
              <a:defRPr sz="850">
                <a:solidFill>
                  <a:srgbClr val="0F172A"/>
                </a:solidFill>
              </a:defRPr>
            </a:pPr>
            <a:r>
              <a:t>Require automated multi-supplier cost optimization, contract SLA verification, minimum order quantity compliance, and dynamic order generation.</a:t>
            </a:r>
          </a:p>
        </p:txBody>
      </p:sp>
      <p:sp>
        <p:nvSpPr>
          <p:cNvPr id="12" name="Rounded Rectangle 11"/>
          <p:cNvSpPr/>
          <p:nvPr/>
        </p:nvSpPr>
        <p:spPr>
          <a:xfrm>
            <a:off x="7955280" y="1463040"/>
            <a:ext cx="3383280" cy="137160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554480"/>
            <a:ext cx="3108960" cy="1188720"/>
          </a:xfrm>
          <a:prstGeom prst="rect">
            <a:avLst/>
          </a:prstGeom>
          <a:noFill/>
        </p:spPr>
        <p:txBody>
          <a:bodyPr wrap="square">
            <a:spAutoFit/>
          </a:bodyPr>
          <a:lstStyle/>
          <a:p>
            <a:pPr>
              <a:defRPr sz="1100" b="1">
                <a:solidFill>
                  <a:srgbClr val="1E3A8A"/>
                </a:solidFill>
              </a:defRPr>
            </a:pPr>
            <a:r>
              <a:t>Logistics Coordinators</a:t>
            </a:r>
          </a:p>
          <a:p>
            <a:pPr>
              <a:defRPr sz="850">
                <a:solidFill>
                  <a:srgbClr val="0F172A"/>
                </a:solidFill>
              </a:defRPr>
            </a:pPr>
            <a:r>
              <a:t>Need real-time transit delay monitoring, alternative carrier/route discovery, and multi-modal freight cost evaluation during chokepoint failures.</a:t>
            </a:r>
          </a:p>
        </p:txBody>
      </p:sp>
      <p:graphicFrame>
        <p:nvGraphicFramePr>
          <p:cNvPr id="14" name="Table 13"/>
          <p:cNvGraphicFramePr>
            <a:graphicFrameLocks noGrp="1"/>
          </p:cNvGraphicFramePr>
          <p:nvPr/>
        </p:nvGraphicFramePr>
        <p:xfrm>
          <a:off x="731520" y="3063240"/>
          <a:ext cx="10728655" cy="3108960"/>
        </p:xfrm>
        <a:graphic>
          <a:graphicData uri="http://schemas.openxmlformats.org/drawingml/2006/table">
            <a:tbl>
              <a:tblPr firstRow="1" bandRow="1">
                <a:tableStyleId>{5C22544A-7EE6-4342-B048-85BDC9FD1C3A}</a:tableStyleId>
              </a:tblPr>
              <a:tblGrid>
                <a:gridCol w="2011680"/>
                <a:gridCol w="1828800"/>
                <a:gridCol w="3931920"/>
                <a:gridCol w="2956255"/>
              </a:tblGrid>
              <a:tr h="621792">
                <a:tc>
                  <a:txBody>
                    <a:bodyPr/>
                    <a:lstStyle/>
                    <a:p>
                      <a:pPr algn="ctr">
                        <a:defRPr sz="1050" b="1">
                          <a:solidFill>
                            <a:srgbClr val="FFFFFF"/>
                          </a:solidFill>
                        </a:defRPr>
                      </a:pPr>
                      <a:r>
                        <a:t>Stakeholder Group</a:t>
                      </a:r>
                    </a:p>
                  </a:txBody>
                  <a:tcPr>
                    <a:solidFill>
                      <a:srgbClr val="0F172A"/>
                    </a:solidFill>
                  </a:tcPr>
                </a:tc>
                <a:tc>
                  <a:txBody>
                    <a:bodyPr/>
                    <a:lstStyle/>
                    <a:p>
                      <a:pPr algn="ctr">
                        <a:defRPr sz="1050" b="1">
                          <a:solidFill>
                            <a:srgbClr val="FFFFFF"/>
                          </a:solidFill>
                        </a:defRPr>
                      </a:pPr>
                      <a:r>
                        <a:t>Organizational Role</a:t>
                      </a:r>
                    </a:p>
                  </a:txBody>
                  <a:tcPr>
                    <a:solidFill>
                      <a:srgbClr val="0F172A"/>
                    </a:solidFill>
                  </a:tcPr>
                </a:tc>
                <a:tc>
                  <a:txBody>
                    <a:bodyPr/>
                    <a:lstStyle/>
                    <a:p>
                      <a:pPr algn="ctr">
                        <a:defRPr sz="1050" b="1">
                          <a:solidFill>
                            <a:srgbClr val="FFFFFF"/>
                          </a:solidFill>
                        </a:defRPr>
                      </a:pPr>
                      <a:r>
                        <a:t>Core Responsibility &amp; Impact</a:t>
                      </a:r>
                    </a:p>
                  </a:txBody>
                  <a:tcPr>
                    <a:solidFill>
                      <a:srgbClr val="0F172A"/>
                    </a:solidFill>
                  </a:tcPr>
                </a:tc>
                <a:tc>
                  <a:txBody>
                    <a:bodyPr/>
                    <a:lstStyle/>
                    <a:p>
                      <a:pPr algn="ctr">
                        <a:defRPr sz="1050" b="1">
                          <a:solidFill>
                            <a:srgbClr val="FFFFFF"/>
                          </a:solidFill>
                        </a:defRPr>
                      </a:pPr>
                      <a:r>
                        <a:t>System Value Delivered</a:t>
                      </a:r>
                    </a:p>
                  </a:txBody>
                  <a:tcPr>
                    <a:solidFill>
                      <a:srgbClr val="0F172A"/>
                    </a:solidFill>
                  </a:tcPr>
                </a:tc>
              </a:tr>
              <a:tr h="621792">
                <a:tc>
                  <a:txBody>
                    <a:bodyPr/>
                    <a:lstStyle/>
                    <a:p>
                      <a:pPr>
                        <a:defRPr sz="950" b="1">
                          <a:solidFill>
                            <a:srgbClr val="0F172A"/>
                          </a:solidFill>
                        </a:defRPr>
                      </a:pPr>
                      <a:r>
                        <a:t>VP of Supply Chain</a:t>
                      </a:r>
                    </a:p>
                  </a:txBody>
                  <a:tcPr>
                    <a:solidFill>
                      <a:srgbClr val="FFFFFF"/>
                    </a:solidFill>
                  </a:tcPr>
                </a:tc>
                <a:tc>
                  <a:txBody>
                    <a:bodyPr/>
                    <a:lstStyle/>
                    <a:p>
                      <a:pPr>
                        <a:defRPr sz="950">
                          <a:solidFill>
                            <a:srgbClr val="0F172A"/>
                          </a:solidFill>
                        </a:defRPr>
                      </a:pPr>
                      <a:r>
                        <a:t>Executive Sponsor</a:t>
                      </a:r>
                    </a:p>
                  </a:txBody>
                  <a:tcPr>
                    <a:solidFill>
                      <a:srgbClr val="FFFFFF"/>
                    </a:solidFill>
                  </a:tcPr>
                </a:tc>
                <a:tc>
                  <a:txBody>
                    <a:bodyPr/>
                    <a:lstStyle/>
                    <a:p>
                      <a:pPr algn="ctr">
                        <a:defRPr sz="950">
                          <a:solidFill>
                            <a:srgbClr val="0F172A"/>
                          </a:solidFill>
                        </a:defRPr>
                      </a:pPr>
                      <a:r>
                        <a:t>Global supply chain resilience, risk governance, and working capital optimization.</a:t>
                      </a:r>
                    </a:p>
                  </a:txBody>
                  <a:tcPr>
                    <a:solidFill>
                      <a:srgbClr val="FFFFFF"/>
                    </a:solidFill>
                  </a:tcPr>
                </a:tc>
                <a:tc>
                  <a:txBody>
                    <a:bodyPr/>
                    <a:lstStyle/>
                    <a:p>
                      <a:pPr algn="ctr">
                        <a:defRPr sz="950">
                          <a:solidFill>
                            <a:srgbClr val="0F172A"/>
                          </a:solidFill>
                        </a:defRPr>
                      </a:pPr>
                      <a:r>
                        <a:t>Real-time enterprise visibility and guaranteed minimal landed cost during crises.</a:t>
                      </a:r>
                    </a:p>
                  </a:txBody>
                  <a:tcPr>
                    <a:solidFill>
                      <a:srgbClr val="FFFFFF"/>
                    </a:solidFill>
                  </a:tcPr>
                </a:tc>
              </a:tr>
              <a:tr h="621792">
                <a:tc>
                  <a:txBody>
                    <a:bodyPr/>
                    <a:lstStyle/>
                    <a:p>
                      <a:pPr>
                        <a:defRPr sz="950" b="1">
                          <a:solidFill>
                            <a:srgbClr val="0F172A"/>
                          </a:solidFill>
                        </a:defRPr>
                      </a:pPr>
                      <a:r>
                        <a:t>Procurement Director</a:t>
                      </a:r>
                    </a:p>
                  </a:txBody>
                  <a:tcPr>
                    <a:solidFill>
                      <a:srgbClr val="F1F5F9"/>
                    </a:solidFill>
                  </a:tcPr>
                </a:tc>
                <a:tc>
                  <a:txBody>
                    <a:bodyPr/>
                    <a:lstStyle/>
                    <a:p>
                      <a:pPr>
                        <a:defRPr sz="950">
                          <a:solidFill>
                            <a:srgbClr val="0F172A"/>
                          </a:solidFill>
                        </a:defRPr>
                      </a:pPr>
                      <a:r>
                        <a:t>Core Operational User</a:t>
                      </a:r>
                    </a:p>
                  </a:txBody>
                  <a:tcPr>
                    <a:solidFill>
                      <a:srgbClr val="F1F5F9"/>
                    </a:solidFill>
                  </a:tcPr>
                </a:tc>
                <a:tc>
                  <a:txBody>
                    <a:bodyPr/>
                    <a:lstStyle/>
                    <a:p>
                      <a:pPr algn="ctr">
                        <a:defRPr sz="950">
                          <a:solidFill>
                            <a:srgbClr val="0F172A"/>
                          </a:solidFill>
                        </a:defRPr>
                      </a:pPr>
                      <a:r>
                        <a:t>Vendor relationship management, supplier quota allocation, contract negotiations.</a:t>
                      </a:r>
                    </a:p>
                  </a:txBody>
                  <a:tcPr>
                    <a:solidFill>
                      <a:srgbClr val="F1F5F9"/>
                    </a:solidFill>
                  </a:tcPr>
                </a:tc>
                <a:tc>
                  <a:txBody>
                    <a:bodyPr/>
                    <a:lstStyle/>
                    <a:p>
                      <a:pPr algn="ctr">
                        <a:defRPr sz="950">
                          <a:solidFill>
                            <a:srgbClr val="0F172A"/>
                          </a:solidFill>
                        </a:defRPr>
                      </a:pPr>
                      <a:r>
                        <a:t>Automated optimal order splits complying 100% with vendor capacity &amp; SLAs.</a:t>
                      </a:r>
                    </a:p>
                  </a:txBody>
                  <a:tcPr>
                    <a:solidFill>
                      <a:srgbClr val="F1F5F9"/>
                    </a:solidFill>
                  </a:tcPr>
                </a:tc>
              </a:tr>
              <a:tr h="621792">
                <a:tc>
                  <a:txBody>
                    <a:bodyPr/>
                    <a:lstStyle/>
                    <a:p>
                      <a:pPr>
                        <a:defRPr sz="950" b="1">
                          <a:solidFill>
                            <a:srgbClr val="0F172A"/>
                          </a:solidFill>
                        </a:defRPr>
                      </a:pPr>
                      <a:r>
                        <a:t>Logistics Manager</a:t>
                      </a:r>
                    </a:p>
                  </a:txBody>
                  <a:tcPr>
                    <a:solidFill>
                      <a:srgbClr val="FFFFFF"/>
                    </a:solidFill>
                  </a:tcPr>
                </a:tc>
                <a:tc>
                  <a:txBody>
                    <a:bodyPr/>
                    <a:lstStyle/>
                    <a:p>
                      <a:pPr>
                        <a:defRPr sz="950">
                          <a:solidFill>
                            <a:srgbClr val="0F172A"/>
                          </a:solidFill>
                        </a:defRPr>
                      </a:pPr>
                      <a:r>
                        <a:t>Operational User</a:t>
                      </a:r>
                    </a:p>
                  </a:txBody>
                  <a:tcPr>
                    <a:solidFill>
                      <a:srgbClr val="FFFFFF"/>
                    </a:solidFill>
                  </a:tcPr>
                </a:tc>
                <a:tc>
                  <a:txBody>
                    <a:bodyPr/>
                    <a:lstStyle/>
                    <a:p>
                      <a:pPr algn="ctr">
                        <a:defRPr sz="950">
                          <a:solidFill>
                            <a:srgbClr val="0F172A"/>
                          </a:solidFill>
                        </a:defRPr>
                      </a:pPr>
                      <a:r>
                        <a:t>Freight carrier assignment, port transit monitoring, warehouse stock reception.</a:t>
                      </a:r>
                    </a:p>
                  </a:txBody>
                  <a:tcPr>
                    <a:solidFill>
                      <a:srgbClr val="FFFFFF"/>
                    </a:solidFill>
                  </a:tcPr>
                </a:tc>
                <a:tc>
                  <a:txBody>
                    <a:bodyPr/>
                    <a:lstStyle/>
                    <a:p>
                      <a:pPr algn="ctr">
                        <a:defRPr sz="950">
                          <a:solidFill>
                            <a:srgbClr val="0F172A"/>
                          </a:solidFill>
                        </a:defRPr>
                      </a:pPr>
                      <a:r>
                        <a:t>Rapid alternative routing mitigating maritime and road transportation delays.</a:t>
                      </a:r>
                    </a:p>
                  </a:txBody>
                  <a:tcPr>
                    <a:solidFill>
                      <a:srgbClr val="FFFFFF"/>
                    </a:solidFill>
                  </a:tcPr>
                </a:tc>
              </a:tr>
              <a:tr h="621792">
                <a:tc>
                  <a:txBody>
                    <a:bodyPr/>
                    <a:lstStyle/>
                    <a:p>
                      <a:pPr>
                        <a:defRPr sz="950" b="1">
                          <a:solidFill>
                            <a:srgbClr val="0F172A"/>
                          </a:solidFill>
                        </a:defRPr>
                      </a:pPr>
                      <a:r>
                        <a:t>Enterprise IT / SecOps</a:t>
                      </a:r>
                    </a:p>
                  </a:txBody>
                  <a:tcPr>
                    <a:solidFill>
                      <a:srgbClr val="F1F5F9"/>
                    </a:solidFill>
                  </a:tcPr>
                </a:tc>
                <a:tc>
                  <a:txBody>
                    <a:bodyPr/>
                    <a:lstStyle/>
                    <a:p>
                      <a:pPr>
                        <a:defRPr sz="950">
                          <a:solidFill>
                            <a:srgbClr val="0F172A"/>
                          </a:solidFill>
                        </a:defRPr>
                      </a:pPr>
                      <a:r>
                        <a:t>System Gatekeeper</a:t>
                      </a:r>
                    </a:p>
                  </a:txBody>
                  <a:tcPr>
                    <a:solidFill>
                      <a:srgbClr val="F1F5F9"/>
                    </a:solidFill>
                  </a:tcPr>
                </a:tc>
                <a:tc>
                  <a:txBody>
                    <a:bodyPr/>
                    <a:lstStyle/>
                    <a:p>
                      <a:pPr algn="ctr">
                        <a:defRPr sz="950">
                          <a:solidFill>
                            <a:srgbClr val="0F172A"/>
                          </a:solidFill>
                        </a:defRPr>
                      </a:pPr>
                      <a:r>
                        <a:t>Data governance, API security, ERP system integration, compliance auditability.</a:t>
                      </a:r>
                    </a:p>
                  </a:txBody>
                  <a:tcPr>
                    <a:solidFill>
                      <a:srgbClr val="F1F5F9"/>
                    </a:solidFill>
                  </a:tcPr>
                </a:tc>
                <a:tc>
                  <a:txBody>
                    <a:bodyPr/>
                    <a:lstStyle/>
                    <a:p>
                      <a:pPr algn="ctr">
                        <a:defRPr sz="950">
                          <a:solidFill>
                            <a:srgbClr val="0F172A"/>
                          </a:solidFill>
                        </a:defRPr>
                      </a:pPr>
                      <a:r>
                        <a:t>Air-gapped on-premise container deployment with immutable cryptographic JSON logs.</a:t>
                      </a:r>
                    </a:p>
                  </a:txBody>
                  <a:tcPr>
                    <a:solidFill>
                      <a:srgbClr val="F1F5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REQUIREMENTS</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System Requirements: Functional &amp; Non-Functional Specifications</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8</a:t>
            </a:r>
          </a:p>
        </p:txBody>
      </p:sp>
      <p:sp>
        <p:nvSpPr>
          <p:cNvPr id="8" name="Rounded Rectangle 7"/>
          <p:cNvSpPr/>
          <p:nvPr/>
        </p:nvSpPr>
        <p:spPr>
          <a:xfrm>
            <a:off x="731520" y="1463040"/>
            <a:ext cx="5166360" cy="475488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00600" cy="4480560"/>
          </a:xfrm>
          <a:prstGeom prst="rect">
            <a:avLst/>
          </a:prstGeom>
          <a:noFill/>
        </p:spPr>
        <p:txBody>
          <a:bodyPr wrap="square">
            <a:spAutoFit/>
          </a:bodyPr>
          <a:lstStyle/>
          <a:p>
            <a:pPr>
              <a:defRPr sz="1200" b="1">
                <a:solidFill>
                  <a:srgbClr val="1E3A8A"/>
                </a:solidFill>
              </a:defRPr>
            </a:pPr>
            <a:r>
              <a:t>FUNCTIONAL REQUIREMENTS (FR)</a:t>
            </a:r>
          </a:p>
          <a:p>
            <a:pPr>
              <a:defRPr sz="850">
                <a:solidFill>
                  <a:srgbClr val="0F172A"/>
                </a:solidFill>
              </a:defRPr>
            </a:pPr>
            <a:r>
              <a:t>• FR-1: Multi-Echelon Data Ingestion: Ingest real-time stock levels, supplier capacity bounds, lead times, and transit status across 10 SKUs, 7 suppliers, and 4 hubs.</a:t>
            </a:r>
          </a:p>
          <a:p>
            <a:pPr>
              <a:defRPr sz="850">
                <a:solidFill>
                  <a:srgbClr val="0F172A"/>
                </a:solidFill>
              </a:defRPr>
            </a:pPr>
            <a:r>
              <a:t>• FR-2: Disruption Detection &amp; Classification: Perceive anomalies (supplier shutdowns, lead time spikes) and categorize risk severity within 500 ms.</a:t>
            </a:r>
          </a:p>
          <a:p>
            <a:pPr>
              <a:defRPr sz="850">
                <a:solidFill>
                  <a:srgbClr val="0F172A"/>
                </a:solidFill>
              </a:defRPr>
            </a:pPr>
            <a:r>
              <a:t>• FR-3: Deterministic MILP Procurement: Execute Mixed-Integer Linear Programming to compute cost-optimal order quantities strictly respecting capacity limits and MOQs.</a:t>
            </a:r>
          </a:p>
          <a:p>
            <a:pPr>
              <a:defRPr sz="850">
                <a:solidFill>
                  <a:srgbClr val="0F172A"/>
                </a:solidFill>
              </a:defRPr>
            </a:pPr>
            <a:r>
              <a:t>• FR-4: Hybrid RAG Contract Extraction: Retrieve relevant legal clauses, lead time penalties, and SLAs using pgvector dense search + BM25 keyword matching with verifiable citations.</a:t>
            </a:r>
          </a:p>
          <a:p>
            <a:pPr>
              <a:defRPr sz="850">
                <a:solidFill>
                  <a:srgbClr val="0F172A"/>
                </a:solidFill>
              </a:defRPr>
            </a:pPr>
            <a:r>
              <a:t>• FR-5: What-If Simulation Sandbox: Enable dynamic parameter overriding (supplier offline, lead time multiplier) to stress-test resilience in real time.</a:t>
            </a:r>
          </a:p>
          <a:p>
            <a:pPr>
              <a:defRPr sz="850">
                <a:solidFill>
                  <a:srgbClr val="0F172A"/>
                </a:solidFill>
              </a:defRPr>
            </a:pPr>
            <a:r>
              <a:t>• FR-6: Human-in-the-Loop Approval Gate: Enforce manager approval workflows and log all decisions into tamper-evident JSON audit trails.</a:t>
            </a:r>
          </a:p>
        </p:txBody>
      </p:sp>
      <p:sp>
        <p:nvSpPr>
          <p:cNvPr id="10" name="Rounded Rectangle 9"/>
          <p:cNvSpPr/>
          <p:nvPr/>
        </p:nvSpPr>
        <p:spPr>
          <a:xfrm>
            <a:off x="6263640" y="1463040"/>
            <a:ext cx="5166360" cy="475488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4480560"/>
          </a:xfrm>
          <a:prstGeom prst="rect">
            <a:avLst/>
          </a:prstGeom>
          <a:noFill/>
        </p:spPr>
        <p:txBody>
          <a:bodyPr wrap="square">
            <a:spAutoFit/>
          </a:bodyPr>
          <a:lstStyle/>
          <a:p>
            <a:pPr>
              <a:defRPr sz="1200" b="1">
                <a:solidFill>
                  <a:srgbClr val="6D28D9"/>
                </a:solidFill>
              </a:defRPr>
            </a:pPr>
            <a:r>
              <a:t>NON-FUNCTIONAL REQUIREMENTS (NFR)</a:t>
            </a:r>
          </a:p>
          <a:p>
            <a:pPr>
              <a:defRPr sz="850">
                <a:solidFill>
                  <a:srgbClr val="0F172A"/>
                </a:solidFill>
              </a:defRPr>
            </a:pPr>
            <a:r>
              <a:t>• NFR-1: Real-Time Performance &amp; Latency: End-to-end multi-agent re-planning must complete in under 2.0 seconds (empirically achieved: 125 ms baseline, 71 ms emergency replan).</a:t>
            </a:r>
          </a:p>
          <a:p>
            <a:pPr>
              <a:defRPr sz="850">
                <a:solidFill>
                  <a:srgbClr val="0F172A"/>
                </a:solidFill>
              </a:defRPr>
            </a:pPr>
            <a:r>
              <a:t>• NFR-2: Zero Hallucination &amp; Determinism: 100% mathematical constraint satisfaction; numerical allocations must be computed by external solvers, completely eliminating LLM arithmetic errors.</a:t>
            </a:r>
          </a:p>
          <a:p>
            <a:pPr>
              <a:defRPr sz="850">
                <a:solidFill>
                  <a:srgbClr val="0F172A"/>
                </a:solidFill>
              </a:defRPr>
            </a:pPr>
            <a:r>
              <a:t>• NFR-3: Enterprise Scalability: Horizontally scalable stateless microservices using Docker containers and PostgreSQL pgvector with HNSW index for sub-10ms vector querying.</a:t>
            </a:r>
          </a:p>
          <a:p>
            <a:pPr>
              <a:defRPr sz="850">
                <a:solidFill>
                  <a:srgbClr val="0F172A"/>
                </a:solidFill>
              </a:defRPr>
            </a:pPr>
            <a:r>
              <a:t>• NFR-4: Security &amp; Compliance: Role-Based Access Control (RBAC), TLS 1.3 encrypted data transmission, and on-premise air-gapped deployment capability.</a:t>
            </a:r>
          </a:p>
          <a:p>
            <a:pPr>
              <a:defRPr sz="850">
                <a:solidFill>
                  <a:srgbClr val="0F172A"/>
                </a:solidFill>
              </a:defRPr>
            </a:pPr>
            <a:r>
              <a:t>• NFR-5: Usability &amp; Interpretability: Modern, responsive React 18 dashboard featuring interactive risk heatmaps, thought stream visualization, and natural language copilot interaction.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SOLUTION ARCHITECTURE</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4. Proposed Agentic AI Solution: High-Level Architecture</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9</a:t>
            </a:r>
          </a:p>
        </p:txBody>
      </p:sp>
      <p:sp>
        <p:nvSpPr>
          <p:cNvPr id="8" name="Rounded Rectangle 7"/>
          <p:cNvSpPr/>
          <p:nvPr/>
        </p:nvSpPr>
        <p:spPr>
          <a:xfrm>
            <a:off x="731520" y="1463040"/>
            <a:ext cx="1920240" cy="164592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1737360" cy="1463040"/>
          </a:xfrm>
          <a:prstGeom prst="rect">
            <a:avLst/>
          </a:prstGeom>
          <a:noFill/>
        </p:spPr>
        <p:txBody>
          <a:bodyPr wrap="square">
            <a:spAutoFit/>
          </a:bodyPr>
          <a:lstStyle/>
          <a:p>
            <a:pPr>
              <a:defRPr sz="1050" b="1">
                <a:solidFill>
                  <a:srgbClr val="0F172A"/>
                </a:solidFill>
              </a:defRPr>
            </a:pPr>
            <a:r>
              <a:t>1. Input &amp; Sensing</a:t>
            </a:r>
          </a:p>
          <a:p>
            <a:pPr>
              <a:defRPr sz="850">
                <a:solidFill>
                  <a:srgbClr val="0F172A"/>
                </a:solidFill>
              </a:defRPr>
            </a:pPr>
            <a:r>
              <a:t>Disruption Webhook</a:t>
            </a:r>
            <a:br/>
            <a:r>
              <a:t>Manual User Query</a:t>
            </a:r>
            <a:br/>
            <a:r>
              <a:t>Live Telemetry Stream</a:t>
            </a:r>
          </a:p>
        </p:txBody>
      </p:sp>
      <p:sp>
        <p:nvSpPr>
          <p:cNvPr id="10" name="Rounded Rectangle 9"/>
          <p:cNvSpPr/>
          <p:nvPr/>
        </p:nvSpPr>
        <p:spPr>
          <a:xfrm>
            <a:off x="2926080" y="1463040"/>
            <a:ext cx="1920240" cy="164592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1554480"/>
            <a:ext cx="1737360" cy="1463040"/>
          </a:xfrm>
          <a:prstGeom prst="rect">
            <a:avLst/>
          </a:prstGeom>
          <a:noFill/>
        </p:spPr>
        <p:txBody>
          <a:bodyPr wrap="square">
            <a:spAutoFit/>
          </a:bodyPr>
          <a:lstStyle/>
          <a:p>
            <a:pPr>
              <a:defRPr sz="1050" b="1">
                <a:solidFill>
                  <a:srgbClr val="6D28D9"/>
                </a:solidFill>
              </a:defRPr>
            </a:pPr>
            <a:r>
              <a:t>2. Supervisor Agent</a:t>
            </a:r>
          </a:p>
          <a:p>
            <a:pPr>
              <a:defRPr sz="850">
                <a:solidFill>
                  <a:srgbClr val="0F172A"/>
                </a:solidFill>
              </a:defRPr>
            </a:pPr>
            <a:r>
              <a:t>LangGraph Planner</a:t>
            </a:r>
            <a:br/>
            <a:r>
              <a:t>Intent Classification</a:t>
            </a:r>
            <a:br/>
            <a:r>
              <a:t>Task Decomposition</a:t>
            </a:r>
          </a:p>
        </p:txBody>
      </p:sp>
      <p:sp>
        <p:nvSpPr>
          <p:cNvPr id="12" name="Rounded Rectangle 11"/>
          <p:cNvSpPr/>
          <p:nvPr/>
        </p:nvSpPr>
        <p:spPr>
          <a:xfrm>
            <a:off x="5120640" y="1463040"/>
            <a:ext cx="1920240" cy="164592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0" y="1554480"/>
            <a:ext cx="1737360" cy="1463040"/>
          </a:xfrm>
          <a:prstGeom prst="rect">
            <a:avLst/>
          </a:prstGeom>
          <a:noFill/>
        </p:spPr>
        <p:txBody>
          <a:bodyPr wrap="square">
            <a:spAutoFit/>
          </a:bodyPr>
          <a:lstStyle/>
          <a:p>
            <a:pPr>
              <a:defRPr sz="1050" b="1">
                <a:solidFill>
                  <a:srgbClr val="1E3A8A"/>
                </a:solidFill>
              </a:defRPr>
            </a:pPr>
            <a:r>
              <a:t>3. Specialist Agents</a:t>
            </a:r>
          </a:p>
          <a:p>
            <a:pPr>
              <a:defRPr sz="850">
                <a:solidFill>
                  <a:srgbClr val="0F172A"/>
                </a:solidFill>
              </a:defRPr>
            </a:pPr>
            <a:r>
              <a:t>Inventory Analyst</a:t>
            </a:r>
            <a:br/>
            <a:r>
              <a:t>Supplier Risk Agent</a:t>
            </a:r>
            <a:br/>
            <a:r>
              <a:t>Logistics Route Agent</a:t>
            </a:r>
          </a:p>
        </p:txBody>
      </p:sp>
      <p:sp>
        <p:nvSpPr>
          <p:cNvPr id="14" name="Rounded Rectangle 13"/>
          <p:cNvSpPr/>
          <p:nvPr/>
        </p:nvSpPr>
        <p:spPr>
          <a:xfrm>
            <a:off x="7315199" y="1463040"/>
            <a:ext cx="1920240" cy="164592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39" y="1554480"/>
            <a:ext cx="1737360" cy="1463040"/>
          </a:xfrm>
          <a:prstGeom prst="rect">
            <a:avLst/>
          </a:prstGeom>
          <a:noFill/>
        </p:spPr>
        <p:txBody>
          <a:bodyPr wrap="square">
            <a:spAutoFit/>
          </a:bodyPr>
          <a:lstStyle/>
          <a:p>
            <a:pPr>
              <a:defRPr sz="1050" b="1">
                <a:solidFill>
                  <a:srgbClr val="0284C7"/>
                </a:solidFill>
              </a:defRPr>
            </a:pPr>
            <a:r>
              <a:t>4. Hybrid Engine</a:t>
            </a:r>
          </a:p>
          <a:p>
            <a:pPr>
              <a:defRPr sz="850">
                <a:solidFill>
                  <a:srgbClr val="0F172A"/>
                </a:solidFill>
              </a:defRPr>
            </a:pPr>
            <a:r>
              <a:t>OR-Tools MILP Solver</a:t>
            </a:r>
            <a:br/>
            <a:r>
              <a:t>Dense + BM25 RAG</a:t>
            </a:r>
            <a:br/>
            <a:r>
              <a:t>Contract Citations</a:t>
            </a:r>
          </a:p>
        </p:txBody>
      </p:sp>
      <p:sp>
        <p:nvSpPr>
          <p:cNvPr id="16" name="Rounded Rectangle 15"/>
          <p:cNvSpPr/>
          <p:nvPr/>
        </p:nvSpPr>
        <p:spPr>
          <a:xfrm>
            <a:off x="9509760" y="1463040"/>
            <a:ext cx="1920240" cy="16459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1554480"/>
            <a:ext cx="1737360" cy="1463040"/>
          </a:xfrm>
          <a:prstGeom prst="rect">
            <a:avLst/>
          </a:prstGeom>
          <a:noFill/>
        </p:spPr>
        <p:txBody>
          <a:bodyPr wrap="square">
            <a:spAutoFit/>
          </a:bodyPr>
          <a:lstStyle/>
          <a:p>
            <a:pPr>
              <a:defRPr sz="1050" b="1">
                <a:solidFill>
                  <a:srgbClr val="10B981"/>
                </a:solidFill>
              </a:defRPr>
            </a:pPr>
            <a:r>
              <a:t>5. Evaluator &amp; HITL</a:t>
            </a:r>
          </a:p>
          <a:p>
            <a:pPr>
              <a:defRPr sz="850">
                <a:solidFill>
                  <a:srgbClr val="0F172A"/>
                </a:solidFill>
              </a:defRPr>
            </a:pPr>
            <a:r>
              <a:t>Reflective Plan Audit</a:t>
            </a:r>
            <a:br/>
            <a:r>
              <a:t>Manager Review Gate</a:t>
            </a:r>
            <a:br/>
            <a:r>
              <a:t>Decision Dispatch</a:t>
            </a:r>
          </a:p>
        </p:txBody>
      </p:sp>
      <p:sp>
        <p:nvSpPr>
          <p:cNvPr id="18" name="Rounded Rectangle 17"/>
          <p:cNvSpPr/>
          <p:nvPr/>
        </p:nvSpPr>
        <p:spPr>
          <a:xfrm>
            <a:off x="731520" y="3291840"/>
            <a:ext cx="10728655"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29000"/>
            <a:ext cx="10362895" cy="2651760"/>
          </a:xfrm>
          <a:prstGeom prst="rect">
            <a:avLst/>
          </a:prstGeom>
          <a:noFill/>
        </p:spPr>
        <p:txBody>
          <a:bodyPr wrap="square">
            <a:spAutoFit/>
          </a:bodyPr>
          <a:lstStyle/>
          <a:p>
            <a:pPr>
              <a:defRPr sz="1200" b="1">
                <a:solidFill>
                  <a:srgbClr val="1E3A8A"/>
                </a:solidFill>
              </a:defRPr>
            </a:pPr>
            <a:r>
              <a:t>CORE ARCHITECTURAL PILLARS OF SUPPLYCHAINAI</a:t>
            </a:r>
          </a:p>
          <a:p>
            <a:pPr>
              <a:defRPr sz="950">
                <a:solidFill>
                  <a:srgbClr val="0F172A"/>
                </a:solidFill>
              </a:defRPr>
            </a:pPr>
            <a:r>
              <a:t>• Decoupled Neuro-Symbolic Computation: LLMs excel at natural language comprehension, unstructured contract parsing, and strategy formulation, but fail at mathematical calculation. SupplyChainAI completely decouples qualitative reasoning from numerical budgeting by delegating resource allocation to Google OR-Tools.</a:t>
            </a:r>
          </a:p>
          <a:p>
            <a:pPr>
              <a:defRPr sz="950">
                <a:solidFill>
                  <a:srgbClr val="0F172A"/>
                </a:solidFill>
              </a:defRPr>
            </a:pPr>
            <a:r>
              <a:t>• LangGraph StateGraph Resilience: Unlike linear chain-of-thought pipelines, our stateful execution graph supports cyclical transitions. If the Evaluator Agent detects an SLA breach, the state seamlessly loops back to the Re-Planner with corrective boundary constraints.</a:t>
            </a:r>
          </a:p>
          <a:p>
            <a:pPr>
              <a:defRPr sz="950">
                <a:solidFill>
                  <a:srgbClr val="0F172A"/>
                </a:solidFill>
              </a:defRPr>
            </a:pPr>
            <a:r>
              <a:t>• Explainable Contract Grounding via Hybrid RAG: Recommendations do not rely on implicit model memory. Every re-allocation decision is explicitly grounded in indexed supplier contracts and SOPs, retrieving penalty terms, delivery guarantees, and minimum order quantities.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CORE CAPABILITIES</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Key Features of SupplyChainAI Framework</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10</a:t>
            </a:r>
          </a:p>
        </p:txBody>
      </p:sp>
      <p:sp>
        <p:nvSpPr>
          <p:cNvPr id="8" name="Rounded Rectangle 7"/>
          <p:cNvSpPr/>
          <p:nvPr/>
        </p:nvSpPr>
        <p:spPr>
          <a:xfrm>
            <a:off x="731520" y="1463040"/>
            <a:ext cx="3383280" cy="219456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3108960" cy="1920240"/>
          </a:xfrm>
          <a:prstGeom prst="rect">
            <a:avLst/>
          </a:prstGeom>
          <a:noFill/>
        </p:spPr>
        <p:txBody>
          <a:bodyPr wrap="square">
            <a:spAutoFit/>
          </a:bodyPr>
          <a:lstStyle/>
          <a:p>
            <a:pPr>
              <a:defRPr sz="900" b="1">
                <a:solidFill>
                  <a:srgbClr val="6D28D9"/>
                </a:solidFill>
              </a:defRPr>
            </a:pPr>
            <a:r>
              <a:t>FEATURE 1</a:t>
            </a:r>
          </a:p>
          <a:p>
            <a:pPr>
              <a:defRPr sz="1100" b="1">
                <a:solidFill>
                  <a:srgbClr val="0F172A"/>
                </a:solidFill>
              </a:defRPr>
            </a:pPr>
            <a:r>
              <a:t>LangGraph Multi-Agent Engine</a:t>
            </a:r>
          </a:p>
          <a:p>
            <a:pPr>
              <a:defRPr sz="850">
                <a:solidFill>
                  <a:srgbClr val="475569"/>
                </a:solidFill>
              </a:defRPr>
            </a:pPr>
            <a:r>
              <a:t>Stateful orchestration coordinating 5 specialized agents with cyclical replanning, dynamic routing, and persistent execution state.</a:t>
            </a:r>
          </a:p>
        </p:txBody>
      </p:sp>
      <p:sp>
        <p:nvSpPr>
          <p:cNvPr id="10" name="Rounded Rectangle 9"/>
          <p:cNvSpPr/>
          <p:nvPr/>
        </p:nvSpPr>
        <p:spPr>
          <a:xfrm>
            <a:off x="4343400" y="1463040"/>
            <a:ext cx="3383280" cy="219456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00200"/>
            <a:ext cx="3108960" cy="1920240"/>
          </a:xfrm>
          <a:prstGeom prst="rect">
            <a:avLst/>
          </a:prstGeom>
          <a:noFill/>
        </p:spPr>
        <p:txBody>
          <a:bodyPr wrap="square">
            <a:spAutoFit/>
          </a:bodyPr>
          <a:lstStyle/>
          <a:p>
            <a:pPr>
              <a:defRPr sz="900" b="1">
                <a:solidFill>
                  <a:srgbClr val="1E3A8A"/>
                </a:solidFill>
              </a:defRPr>
            </a:pPr>
            <a:r>
              <a:t>FEATURE 2</a:t>
            </a:r>
          </a:p>
          <a:p>
            <a:pPr>
              <a:defRPr sz="1100" b="1">
                <a:solidFill>
                  <a:srgbClr val="0F172A"/>
                </a:solidFill>
              </a:defRPr>
            </a:pPr>
            <a:r>
              <a:t>Deterministic MILP Optimization</a:t>
            </a:r>
          </a:p>
          <a:p>
            <a:pPr>
              <a:defRPr sz="850">
                <a:solidFill>
                  <a:srgbClr val="475569"/>
                </a:solidFill>
              </a:defRPr>
            </a:pPr>
            <a:r>
              <a:t>Mixed-Integer Linear Programming using Google OR-Tools CBC/SCIP solvers, guaranteeing 100% mathematical constraint compliance.</a:t>
            </a:r>
          </a:p>
        </p:txBody>
      </p:sp>
      <p:sp>
        <p:nvSpPr>
          <p:cNvPr id="12" name="Rounded Rectangle 11"/>
          <p:cNvSpPr/>
          <p:nvPr/>
        </p:nvSpPr>
        <p:spPr>
          <a:xfrm>
            <a:off x="7955280" y="1463040"/>
            <a:ext cx="3383280" cy="219456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600200"/>
            <a:ext cx="3108960" cy="1920240"/>
          </a:xfrm>
          <a:prstGeom prst="rect">
            <a:avLst/>
          </a:prstGeom>
          <a:noFill/>
        </p:spPr>
        <p:txBody>
          <a:bodyPr wrap="square">
            <a:spAutoFit/>
          </a:bodyPr>
          <a:lstStyle/>
          <a:p>
            <a:pPr>
              <a:defRPr sz="900" b="1">
                <a:solidFill>
                  <a:srgbClr val="0284C7"/>
                </a:solidFill>
              </a:defRPr>
            </a:pPr>
            <a:r>
              <a:t>FEATURE 3</a:t>
            </a:r>
          </a:p>
          <a:p>
            <a:pPr>
              <a:defRPr sz="1100" b="1">
                <a:solidFill>
                  <a:srgbClr val="0F172A"/>
                </a:solidFill>
              </a:defRPr>
            </a:pPr>
            <a:r>
              <a:t>Hybrid Agentic RAG Pipeline</a:t>
            </a:r>
          </a:p>
          <a:p>
            <a:pPr>
              <a:defRPr sz="850">
                <a:solidFill>
                  <a:srgbClr val="475569"/>
                </a:solidFill>
              </a:defRPr>
            </a:pPr>
            <a:r>
              <a:t>Dual-stream dense (pgvector HNSW) and sparse (BM25) retrieval fused via Reciprocal Rank Fusion for zero-hallucination contract analysis.</a:t>
            </a:r>
          </a:p>
        </p:txBody>
      </p:sp>
      <p:sp>
        <p:nvSpPr>
          <p:cNvPr id="14" name="Rounded Rectangle 13"/>
          <p:cNvSpPr/>
          <p:nvPr/>
        </p:nvSpPr>
        <p:spPr>
          <a:xfrm>
            <a:off x="731520" y="3886200"/>
            <a:ext cx="3383280" cy="219456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23360"/>
            <a:ext cx="3108960" cy="1920240"/>
          </a:xfrm>
          <a:prstGeom prst="rect">
            <a:avLst/>
          </a:prstGeom>
          <a:noFill/>
        </p:spPr>
        <p:txBody>
          <a:bodyPr wrap="square">
            <a:spAutoFit/>
          </a:bodyPr>
          <a:lstStyle/>
          <a:p>
            <a:pPr>
              <a:defRPr sz="900" b="1">
                <a:solidFill>
                  <a:srgbClr val="D97706"/>
                </a:solidFill>
              </a:defRPr>
            </a:pPr>
            <a:r>
              <a:t>FEATURE 4</a:t>
            </a:r>
          </a:p>
          <a:p>
            <a:pPr>
              <a:defRPr sz="1100" b="1">
                <a:solidFill>
                  <a:srgbClr val="0F172A"/>
                </a:solidFill>
              </a:defRPr>
            </a:pPr>
            <a:r>
              <a:t>Interactive What-If Sandbox</a:t>
            </a:r>
          </a:p>
          <a:p>
            <a:pPr>
              <a:defRPr sz="850">
                <a:solidFill>
                  <a:srgbClr val="475569"/>
                </a:solidFill>
              </a:defRPr>
            </a:pPr>
            <a:r>
              <a:t>Real-time simulation environment enabling managers to inject plant outages, shipping delays, and tariff spikes to evaluate mitigation.</a:t>
            </a:r>
          </a:p>
        </p:txBody>
      </p:sp>
      <p:sp>
        <p:nvSpPr>
          <p:cNvPr id="16" name="Rounded Rectangle 15"/>
          <p:cNvSpPr/>
          <p:nvPr/>
        </p:nvSpPr>
        <p:spPr>
          <a:xfrm>
            <a:off x="4343400" y="3886200"/>
            <a:ext cx="3383280" cy="219456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4023360"/>
            <a:ext cx="3108960" cy="1920240"/>
          </a:xfrm>
          <a:prstGeom prst="rect">
            <a:avLst/>
          </a:prstGeom>
          <a:noFill/>
        </p:spPr>
        <p:txBody>
          <a:bodyPr wrap="square">
            <a:spAutoFit/>
          </a:bodyPr>
          <a:lstStyle/>
          <a:p>
            <a:pPr>
              <a:defRPr sz="900" b="1">
                <a:solidFill>
                  <a:srgbClr val="10B981"/>
                </a:solidFill>
              </a:defRPr>
            </a:pPr>
            <a:r>
              <a:t>FEATURE 5</a:t>
            </a:r>
          </a:p>
          <a:p>
            <a:pPr>
              <a:defRPr sz="1100" b="1">
                <a:solidFill>
                  <a:srgbClr val="0F172A"/>
                </a:solidFill>
              </a:defRPr>
            </a:pPr>
            <a:r>
              <a:t>Reflective Self-Correction</a:t>
            </a:r>
          </a:p>
          <a:p>
            <a:pPr>
              <a:defRPr sz="850">
                <a:solidFill>
                  <a:srgbClr val="475569"/>
                </a:solidFill>
              </a:defRPr>
            </a:pPr>
            <a:r>
              <a:t>Dedicated Evaluator Agent auditing proposed procurement plans against business constraints before presenting them for human sign-off.</a:t>
            </a:r>
          </a:p>
        </p:txBody>
      </p:sp>
      <p:sp>
        <p:nvSpPr>
          <p:cNvPr id="18" name="Rounded Rectangle 17"/>
          <p:cNvSpPr/>
          <p:nvPr/>
        </p:nvSpPr>
        <p:spPr>
          <a:xfrm>
            <a:off x="7955280" y="3886200"/>
            <a:ext cx="3383280" cy="219456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4023360"/>
            <a:ext cx="3108960" cy="1920240"/>
          </a:xfrm>
          <a:prstGeom prst="rect">
            <a:avLst/>
          </a:prstGeom>
          <a:noFill/>
        </p:spPr>
        <p:txBody>
          <a:bodyPr wrap="square">
            <a:spAutoFit/>
          </a:bodyPr>
          <a:lstStyle/>
          <a:p>
            <a:pPr>
              <a:defRPr sz="900" b="1">
                <a:solidFill>
                  <a:srgbClr val="0F172A"/>
                </a:solidFill>
              </a:defRPr>
            </a:pPr>
            <a:r>
              <a:t>FEATURE 6</a:t>
            </a:r>
          </a:p>
          <a:p>
            <a:pPr>
              <a:defRPr sz="1100" b="1">
                <a:solidFill>
                  <a:srgbClr val="0F172A"/>
                </a:solidFill>
              </a:defRPr>
            </a:pPr>
            <a:r>
              <a:t>Human-in-the-Loop (HITL) Gate</a:t>
            </a:r>
          </a:p>
          <a:p>
            <a:pPr>
              <a:defRPr sz="850">
                <a:solidFill>
                  <a:srgbClr val="475569"/>
                </a:solidFill>
              </a:defRPr>
            </a:pPr>
            <a:r>
              <a:t>Configurable autonomy levels featuring one-click approval, interactive manual overrides, and tamper-evident JSON audit logging.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DATA &amp; KNOWLEDGE</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5. Dataset &amp; Knowledge Sources: Multi-Echelon Grounding</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11</a:t>
            </a:r>
          </a:p>
        </p:txBody>
      </p:sp>
      <p:sp>
        <p:nvSpPr>
          <p:cNvPr id="8" name="Rounded Rectangle 7"/>
          <p:cNvSpPr/>
          <p:nvPr/>
        </p:nvSpPr>
        <p:spPr>
          <a:xfrm>
            <a:off x="731520" y="1463040"/>
            <a:ext cx="51663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00600" cy="4480560"/>
          </a:xfrm>
          <a:prstGeom prst="rect">
            <a:avLst/>
          </a:prstGeom>
          <a:noFill/>
        </p:spPr>
        <p:txBody>
          <a:bodyPr wrap="square">
            <a:spAutoFit/>
          </a:bodyPr>
          <a:lstStyle/>
          <a:p>
            <a:pPr>
              <a:defRPr sz="1200" b="1">
                <a:solidFill>
                  <a:srgbClr val="1E3A8A"/>
                </a:solidFill>
              </a:defRPr>
            </a:pPr>
            <a:r>
              <a:t>ENTERPRISE TELEMETRY DATASET</a:t>
            </a:r>
          </a:p>
          <a:p>
            <a:pPr>
              <a:defRPr sz="900">
                <a:solidFill>
                  <a:srgbClr val="0F172A"/>
                </a:solidFill>
              </a:defRPr>
            </a:pPr>
            <a:r>
              <a:t>• 10 Industrial SKUs: Raw materials, critical semiconductors, and subassemblies with distinct unit costs ($12–$450), holding fees, and safety stock thresholds.</a:t>
            </a:r>
          </a:p>
          <a:p>
            <a:pPr>
              <a:defRPr sz="900">
                <a:solidFill>
                  <a:srgbClr val="0F172A"/>
                </a:solidFill>
              </a:defRPr>
            </a:pPr>
            <a:r>
              <a:t>• 7 Global Suppliers: Tier-1 and Tier-2 suppliers distributed across North America, Europe, and Asia with documented capacity limits, lead times, and risk ratings.</a:t>
            </a:r>
          </a:p>
          <a:p>
            <a:pPr>
              <a:defRPr sz="900">
                <a:solidFill>
                  <a:srgbClr val="0F172A"/>
                </a:solidFill>
              </a:defRPr>
            </a:pPr>
            <a:r>
              <a:t>• 4 Regional Distribution Hubs: Hubs in Chicago, Rotterdam, Singapore, and Dallas with specific storage capacities and operating costs.</a:t>
            </a:r>
          </a:p>
          <a:p>
            <a:pPr>
              <a:defRPr sz="900">
                <a:solidFill>
                  <a:srgbClr val="0F172A"/>
                </a:solidFill>
              </a:defRPr>
            </a:pPr>
            <a:r>
              <a:t>• 16 Multi-Modal Routes: Maritime corridors, air freight lanes, and overland trucking routes with historical delay distributions and freight costs.</a:t>
            </a:r>
          </a:p>
          <a:p>
            <a:pPr>
              <a:defRPr sz="900">
                <a:solidFill>
                  <a:srgbClr val="0F172A"/>
                </a:solidFill>
              </a:defRPr>
            </a:pPr>
            <a:r>
              <a:t>• 960 Synthetic Longitudinal Orders: Transaction records capturing normal demand fluctuations, seasonal surges, and injected geopolitical disruption events.</a:t>
            </a:r>
          </a:p>
        </p:txBody>
      </p:sp>
      <p:sp>
        <p:nvSpPr>
          <p:cNvPr id="10" name="Rounded Rectangle 9"/>
          <p:cNvSpPr/>
          <p:nvPr/>
        </p:nvSpPr>
        <p:spPr>
          <a:xfrm>
            <a:off x="6263640" y="1463040"/>
            <a:ext cx="51663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4480560"/>
          </a:xfrm>
          <a:prstGeom prst="rect">
            <a:avLst/>
          </a:prstGeom>
          <a:noFill/>
        </p:spPr>
        <p:txBody>
          <a:bodyPr wrap="square">
            <a:spAutoFit/>
          </a:bodyPr>
          <a:lstStyle/>
          <a:p>
            <a:pPr>
              <a:defRPr sz="1200" b="1">
                <a:solidFill>
                  <a:srgbClr val="6D28D9"/>
                </a:solidFill>
              </a:defRPr>
            </a:pPr>
            <a:r>
              <a:t>UNSTRUCTURED KNOWLEDGE PIPELINE (RAG)</a:t>
            </a:r>
          </a:p>
          <a:p>
            <a:pPr>
              <a:defRPr sz="950" b="1">
                <a:solidFill>
                  <a:srgbClr val="0F172A"/>
                </a:solidFill>
              </a:defRPr>
            </a:pPr>
            <a:r>
              <a:t>STAGE 1: DOCUMENT INGESTION</a:t>
            </a:r>
          </a:p>
          <a:p>
            <a:pPr>
              <a:defRPr sz="850">
                <a:solidFill>
                  <a:srgbClr val="475569"/>
                </a:solidFill>
              </a:defRPr>
            </a:pPr>
            <a:r>
              <a:t>Master Service Agreements (MSAs), supplier contracts, SLA annexes, and standard operating procedures (SOPs) stored in Markdown/PDF formats.</a:t>
            </a:r>
          </a:p>
          <a:p>
            <a:pPr>
              <a:defRPr sz="950" b="1">
                <a:solidFill>
                  <a:srgbClr val="0F172A"/>
                </a:solidFill>
              </a:defRPr>
            </a:pPr>
            <a:r>
              <a:t>STAGE 2: SEMANTIC CHUNKING</a:t>
            </a:r>
          </a:p>
          <a:p>
            <a:pPr>
              <a:defRPr sz="850">
                <a:solidFill>
                  <a:srgbClr val="475569"/>
                </a:solidFill>
              </a:defRPr>
            </a:pPr>
            <a:r>
              <a:t>Chunked into 500-token passages with 50-token overlap, preserving clause hierarchy, section numbers, and numerical tables.</a:t>
            </a:r>
          </a:p>
          <a:p>
            <a:pPr>
              <a:defRPr sz="950" b="1">
                <a:solidFill>
                  <a:srgbClr val="0F172A"/>
                </a:solidFill>
              </a:defRPr>
            </a:pPr>
            <a:r>
              <a:t>STAGE 3: DUAL EMBEDDING GENERATION</a:t>
            </a:r>
          </a:p>
          <a:p>
            <a:pPr>
              <a:defRPr sz="850">
                <a:solidFill>
                  <a:srgbClr val="475569"/>
                </a:solidFill>
              </a:defRPr>
            </a:pPr>
            <a:r>
              <a:t>Dense embeddings computed via BAAI/bge-base-en-v1.5 (768-dim) paired with sparse inverted term indices for BM25 matching.</a:t>
            </a:r>
          </a:p>
          <a:p>
            <a:pPr>
              <a:defRPr sz="950" b="1">
                <a:solidFill>
                  <a:srgbClr val="0F172A"/>
                </a:solidFill>
              </a:defRPr>
            </a:pPr>
            <a:r>
              <a:t>STAGE 4: VECTOR DATABASE STORAGE</a:t>
            </a:r>
          </a:p>
          <a:p>
            <a:pPr>
              <a:defRPr sz="850">
                <a:solidFill>
                  <a:srgbClr val="475569"/>
                </a:solidFill>
              </a:defRPr>
            </a:pPr>
            <a:r>
              <a:t>Persisted in PostgreSQL 16 utilizing the pgvector extension with Hierarchical Navigable Small World (HNSW) indexing for sub-10ms search.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TECHNOLOGY STACK</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6. Tools and Technologies: Enterprise Technology Stack</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12</a:t>
            </a:r>
          </a:p>
        </p:txBody>
      </p:sp>
      <p:sp>
        <p:nvSpPr>
          <p:cNvPr id="8" name="Rounded Rectangle 7"/>
          <p:cNvSpPr/>
          <p:nvPr/>
        </p:nvSpPr>
        <p:spPr>
          <a:xfrm>
            <a:off x="731520" y="1463040"/>
            <a:ext cx="3383280" cy="219456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3108960" cy="1920240"/>
          </a:xfrm>
          <a:prstGeom prst="rect">
            <a:avLst/>
          </a:prstGeom>
          <a:noFill/>
        </p:spPr>
        <p:txBody>
          <a:bodyPr wrap="square">
            <a:spAutoFit/>
          </a:bodyPr>
          <a:lstStyle/>
          <a:p>
            <a:pPr>
              <a:defRPr sz="1100" b="1">
                <a:solidFill>
                  <a:srgbClr val="6D28D9"/>
                </a:solidFill>
              </a:defRPr>
            </a:pPr>
            <a:r>
              <a:t>AI / ML &amp; Orchestration</a:t>
            </a:r>
          </a:p>
          <a:p>
            <a:pPr>
              <a:defRPr sz="850">
                <a:solidFill>
                  <a:srgbClr val="0F172A"/>
                </a:solidFill>
              </a:defRPr>
            </a:pPr>
            <a:r>
              <a:t>• LangGraph (StateGraph multi-agent coordination)</a:t>
            </a:r>
          </a:p>
          <a:p>
            <a:pPr>
              <a:defRPr sz="850">
                <a:solidFill>
                  <a:srgbClr val="0F172A"/>
                </a:solidFill>
              </a:defRPr>
            </a:pPr>
            <a:r>
              <a:t>• LangChain Core (prompt management &amp; tooling)</a:t>
            </a:r>
          </a:p>
          <a:p>
            <a:pPr>
              <a:defRPr sz="850">
                <a:solidFill>
                  <a:srgbClr val="0F172A"/>
                </a:solidFill>
              </a:defRPr>
            </a:pPr>
            <a:r>
              <a:t>• Pydantic v2 (typed state contracts &amp; validation)</a:t>
            </a:r>
          </a:p>
        </p:txBody>
      </p:sp>
      <p:sp>
        <p:nvSpPr>
          <p:cNvPr id="10" name="Rounded Rectangle 9"/>
          <p:cNvSpPr/>
          <p:nvPr/>
        </p:nvSpPr>
        <p:spPr>
          <a:xfrm>
            <a:off x="4343400" y="1463040"/>
            <a:ext cx="3383280" cy="219456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00200"/>
            <a:ext cx="3108960" cy="1920240"/>
          </a:xfrm>
          <a:prstGeom prst="rect">
            <a:avLst/>
          </a:prstGeom>
          <a:noFill/>
        </p:spPr>
        <p:txBody>
          <a:bodyPr wrap="square">
            <a:spAutoFit/>
          </a:bodyPr>
          <a:lstStyle/>
          <a:p>
            <a:pPr>
              <a:defRPr sz="1100" b="1">
                <a:solidFill>
                  <a:srgbClr val="1E3A8A"/>
                </a:solidFill>
              </a:defRPr>
            </a:pPr>
            <a:r>
              <a:t>LLM / SLM Support</a:t>
            </a:r>
          </a:p>
          <a:p>
            <a:pPr>
              <a:defRPr sz="850">
                <a:solidFill>
                  <a:srgbClr val="0F172A"/>
                </a:solidFill>
              </a:defRPr>
            </a:pPr>
            <a:r>
              <a:t>• DeepSeek-R1 (Distill-Qwen-14B / 32B for local SLM)</a:t>
            </a:r>
          </a:p>
          <a:p>
            <a:pPr>
              <a:defRPr sz="850">
                <a:solidFill>
                  <a:srgbClr val="0F172A"/>
                </a:solidFill>
              </a:defRPr>
            </a:pPr>
            <a:r>
              <a:t>• Llama-3.1-70B &amp; GPT-4o-mini (Cloud inference)</a:t>
            </a:r>
          </a:p>
          <a:p>
            <a:pPr>
              <a:defRPr sz="850">
                <a:solidFill>
                  <a:srgbClr val="0F172A"/>
                </a:solidFill>
              </a:defRPr>
            </a:pPr>
            <a:r>
              <a:t>• Groq API / Ollama (ultra-low latency serving)</a:t>
            </a:r>
          </a:p>
        </p:txBody>
      </p:sp>
      <p:sp>
        <p:nvSpPr>
          <p:cNvPr id="12" name="Rounded Rectangle 11"/>
          <p:cNvSpPr/>
          <p:nvPr/>
        </p:nvSpPr>
        <p:spPr>
          <a:xfrm>
            <a:off x="7955280" y="1463040"/>
            <a:ext cx="3383280" cy="219456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1600200"/>
            <a:ext cx="3108960" cy="1920240"/>
          </a:xfrm>
          <a:prstGeom prst="rect">
            <a:avLst/>
          </a:prstGeom>
          <a:noFill/>
        </p:spPr>
        <p:txBody>
          <a:bodyPr wrap="square">
            <a:spAutoFit/>
          </a:bodyPr>
          <a:lstStyle/>
          <a:p>
            <a:pPr>
              <a:defRPr sz="1100" b="1">
                <a:solidFill>
                  <a:srgbClr val="0284C7"/>
                </a:solidFill>
              </a:defRPr>
            </a:pPr>
            <a:r>
              <a:t>Operations Research &amp; Math</a:t>
            </a:r>
          </a:p>
          <a:p>
            <a:pPr>
              <a:defRPr sz="850">
                <a:solidFill>
                  <a:srgbClr val="0F172A"/>
                </a:solidFill>
              </a:defRPr>
            </a:pPr>
            <a:r>
              <a:t>• Google OR-Tools (Mixed-Integer Linear Programming)</a:t>
            </a:r>
          </a:p>
          <a:p>
            <a:pPr>
              <a:defRPr sz="850">
                <a:solidFill>
                  <a:srgbClr val="0F172A"/>
                </a:solidFill>
              </a:defRPr>
            </a:pPr>
            <a:r>
              <a:t>• CBC / SCIP mathematical solvers</a:t>
            </a:r>
          </a:p>
          <a:p>
            <a:pPr>
              <a:defRPr sz="850">
                <a:solidFill>
                  <a:srgbClr val="0F172A"/>
                </a:solidFill>
              </a:defRPr>
            </a:pPr>
            <a:r>
              <a:t>• Guaranteed global optimum cost allocation</a:t>
            </a:r>
          </a:p>
        </p:txBody>
      </p:sp>
      <p:sp>
        <p:nvSpPr>
          <p:cNvPr id="14" name="Rounded Rectangle 13"/>
          <p:cNvSpPr/>
          <p:nvPr/>
        </p:nvSpPr>
        <p:spPr>
          <a:xfrm>
            <a:off x="731520" y="3886200"/>
            <a:ext cx="3383280" cy="219456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23360"/>
            <a:ext cx="3108960" cy="1920240"/>
          </a:xfrm>
          <a:prstGeom prst="rect">
            <a:avLst/>
          </a:prstGeom>
          <a:noFill/>
        </p:spPr>
        <p:txBody>
          <a:bodyPr wrap="square">
            <a:spAutoFit/>
          </a:bodyPr>
          <a:lstStyle/>
          <a:p>
            <a:pPr>
              <a:defRPr sz="1100" b="1">
                <a:solidFill>
                  <a:srgbClr val="0F172A"/>
                </a:solidFill>
              </a:defRPr>
            </a:pPr>
            <a:r>
              <a:t>Database &amp; Vector Storage</a:t>
            </a:r>
          </a:p>
          <a:p>
            <a:pPr>
              <a:defRPr sz="850">
                <a:solidFill>
                  <a:srgbClr val="0F172A"/>
                </a:solidFill>
              </a:defRPr>
            </a:pPr>
            <a:r>
              <a:t>• PostgreSQL 16 (Enterprise relational storage)</a:t>
            </a:r>
          </a:p>
          <a:p>
            <a:pPr>
              <a:defRPr sz="850">
                <a:solidFill>
                  <a:srgbClr val="0F172A"/>
                </a:solidFill>
              </a:defRPr>
            </a:pPr>
            <a:r>
              <a:t>• pgvector Extension (Cosine similarity HNSW index)</a:t>
            </a:r>
          </a:p>
          <a:p>
            <a:pPr>
              <a:defRPr sz="850">
                <a:solidFill>
                  <a:srgbClr val="0F172A"/>
                </a:solidFill>
              </a:defRPr>
            </a:pPr>
            <a:r>
              <a:t>• SQLAlchemy ORM (async schema management)</a:t>
            </a:r>
          </a:p>
        </p:txBody>
      </p:sp>
      <p:sp>
        <p:nvSpPr>
          <p:cNvPr id="16" name="Rounded Rectangle 15"/>
          <p:cNvSpPr/>
          <p:nvPr/>
        </p:nvSpPr>
        <p:spPr>
          <a:xfrm>
            <a:off x="4343400" y="3886200"/>
            <a:ext cx="3383280" cy="219456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4023360"/>
            <a:ext cx="3108960" cy="1920240"/>
          </a:xfrm>
          <a:prstGeom prst="rect">
            <a:avLst/>
          </a:prstGeom>
          <a:noFill/>
        </p:spPr>
        <p:txBody>
          <a:bodyPr wrap="square">
            <a:spAutoFit/>
          </a:bodyPr>
          <a:lstStyle/>
          <a:p>
            <a:pPr>
              <a:defRPr sz="1100" b="1">
                <a:solidFill>
                  <a:srgbClr val="D97706"/>
                </a:solidFill>
              </a:defRPr>
            </a:pPr>
            <a:r>
              <a:t>Backend Framework</a:t>
            </a:r>
          </a:p>
          <a:p>
            <a:pPr>
              <a:defRPr sz="850">
                <a:solidFill>
                  <a:srgbClr val="0F172A"/>
                </a:solidFill>
              </a:defRPr>
            </a:pPr>
            <a:r>
              <a:t>• Python 3.11 (Core runtime environment)</a:t>
            </a:r>
          </a:p>
          <a:p>
            <a:pPr>
              <a:defRPr sz="850">
                <a:solidFill>
                  <a:srgbClr val="0F172A"/>
                </a:solidFill>
              </a:defRPr>
            </a:pPr>
            <a:r>
              <a:t>• FastAPI (High-performance async REST &amp; SSE)</a:t>
            </a:r>
          </a:p>
          <a:p>
            <a:pPr>
              <a:defRPr sz="850">
                <a:solidFill>
                  <a:srgbClr val="0F172A"/>
                </a:solidFill>
              </a:defRPr>
            </a:pPr>
            <a:r>
              <a:t>• Uvicorn (ASGI web production server)</a:t>
            </a:r>
          </a:p>
        </p:txBody>
      </p:sp>
      <p:sp>
        <p:nvSpPr>
          <p:cNvPr id="18" name="Rounded Rectangle 17"/>
          <p:cNvSpPr/>
          <p:nvPr/>
        </p:nvSpPr>
        <p:spPr>
          <a:xfrm>
            <a:off x="7955280" y="3886200"/>
            <a:ext cx="3383280" cy="219456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92440" y="4023360"/>
            <a:ext cx="3108960" cy="1920240"/>
          </a:xfrm>
          <a:prstGeom prst="rect">
            <a:avLst/>
          </a:prstGeom>
          <a:noFill/>
        </p:spPr>
        <p:txBody>
          <a:bodyPr wrap="square">
            <a:spAutoFit/>
          </a:bodyPr>
          <a:lstStyle/>
          <a:p>
            <a:pPr>
              <a:defRPr sz="1100" b="1">
                <a:solidFill>
                  <a:srgbClr val="10B981"/>
                </a:solidFill>
              </a:defRPr>
            </a:pPr>
            <a:r>
              <a:t>Frontend &amp; DevOps</a:t>
            </a:r>
          </a:p>
          <a:p>
            <a:pPr>
              <a:defRPr sz="850">
                <a:solidFill>
                  <a:srgbClr val="0F172A"/>
                </a:solidFill>
              </a:defRPr>
            </a:pPr>
            <a:r>
              <a:t>• React 18 + TypeScript + Tailwind CSS (Vite)</a:t>
            </a:r>
          </a:p>
          <a:p>
            <a:pPr>
              <a:defRPr sz="850">
                <a:solidFill>
                  <a:srgbClr val="0F172A"/>
                </a:solidFill>
              </a:defRPr>
            </a:pPr>
            <a:r>
              <a:t>• Lucide React Icons &amp; Recharts Visualization</a:t>
            </a:r>
          </a:p>
          <a:p>
            <a:pPr>
              <a:defRPr sz="850">
                <a:solidFill>
                  <a:srgbClr val="0F172A"/>
                </a:solidFill>
              </a:defRPr>
            </a:pPr>
            <a:r>
              <a:t>• Docker, Docker Compose, Pytest (19 tests)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AGENT ARCHITECTURE</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7. Agent Architecture: Multi-Agent Specialization</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13</a:t>
            </a:r>
          </a:p>
        </p:txBody>
      </p:sp>
      <p:sp>
        <p:nvSpPr>
          <p:cNvPr id="8" name="Rounded Rectangle 7"/>
          <p:cNvSpPr/>
          <p:nvPr/>
        </p:nvSpPr>
        <p:spPr>
          <a:xfrm>
            <a:off x="3474720" y="1463040"/>
            <a:ext cx="5242255" cy="1005840"/>
          </a:xfrm>
          <a:prstGeom prst="roundRect">
            <a:avLst/>
          </a:prstGeom>
          <a:solidFill>
            <a:srgbClr val="F1F5F9"/>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1554480"/>
            <a:ext cx="5059375" cy="822960"/>
          </a:xfrm>
          <a:prstGeom prst="rect">
            <a:avLst/>
          </a:prstGeom>
          <a:noFill/>
        </p:spPr>
        <p:txBody>
          <a:bodyPr wrap="square">
            <a:spAutoFit/>
          </a:bodyPr>
          <a:lstStyle/>
          <a:p>
            <a:pPr algn="ctr">
              <a:defRPr sz="1100" b="1">
                <a:solidFill>
                  <a:srgbClr val="0F172A"/>
                </a:solidFill>
              </a:defRPr>
            </a:pPr>
            <a:r>
              <a:t>SUPERVISOR / ORCHESTRATOR AGENT</a:t>
            </a:r>
          </a:p>
          <a:p>
            <a:pPr algn="ctr">
              <a:defRPr sz="900">
                <a:solidFill>
                  <a:srgbClr val="475569"/>
                </a:solidFill>
              </a:defRPr>
            </a:pPr>
            <a:r>
              <a:t>Dispatches sub-tasks  •  Synchronizes global StateGraph state  •  Manages execution flow</a:t>
            </a:r>
          </a:p>
        </p:txBody>
      </p:sp>
      <p:sp>
        <p:nvSpPr>
          <p:cNvPr id="10" name="Rounded Rectangle 9"/>
          <p:cNvSpPr/>
          <p:nvPr/>
        </p:nvSpPr>
        <p:spPr>
          <a:xfrm>
            <a:off x="731520" y="2697480"/>
            <a:ext cx="3383280" cy="137160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88920"/>
            <a:ext cx="3108960" cy="1188720"/>
          </a:xfrm>
          <a:prstGeom prst="rect">
            <a:avLst/>
          </a:prstGeom>
          <a:noFill/>
        </p:spPr>
        <p:txBody>
          <a:bodyPr wrap="square">
            <a:spAutoFit/>
          </a:bodyPr>
          <a:lstStyle/>
          <a:p>
            <a:pPr>
              <a:defRPr sz="1000" b="1">
                <a:solidFill>
                  <a:srgbClr val="1E3A8A"/>
                </a:solidFill>
              </a:defRPr>
            </a:pPr>
            <a:r>
              <a:t>INVENTORY ANALYST AGENT</a:t>
            </a:r>
          </a:p>
          <a:p>
            <a:pPr>
              <a:defRPr sz="850">
                <a:solidFill>
                  <a:srgbClr val="0F172A"/>
                </a:solidFill>
              </a:defRPr>
            </a:pPr>
            <a:r>
              <a:t>Monitors stock levels, safety buffer breaches, and consumption velocity across all 4 regional hubs.</a:t>
            </a:r>
          </a:p>
        </p:txBody>
      </p:sp>
      <p:sp>
        <p:nvSpPr>
          <p:cNvPr id="12" name="Rounded Rectangle 11"/>
          <p:cNvSpPr/>
          <p:nvPr/>
        </p:nvSpPr>
        <p:spPr>
          <a:xfrm>
            <a:off x="4343400" y="2697480"/>
            <a:ext cx="3383280" cy="137160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788920"/>
            <a:ext cx="3108960" cy="1188720"/>
          </a:xfrm>
          <a:prstGeom prst="rect">
            <a:avLst/>
          </a:prstGeom>
          <a:noFill/>
        </p:spPr>
        <p:txBody>
          <a:bodyPr wrap="square">
            <a:spAutoFit/>
          </a:bodyPr>
          <a:lstStyle/>
          <a:p>
            <a:pPr>
              <a:defRPr sz="1000" b="1">
                <a:solidFill>
                  <a:srgbClr val="6D28D9"/>
                </a:solidFill>
              </a:defRPr>
            </a:pPr>
            <a:r>
              <a:t>SUPPLIER RISK AGENT</a:t>
            </a:r>
          </a:p>
          <a:p>
            <a:pPr>
              <a:defRPr sz="850">
                <a:solidFill>
                  <a:srgbClr val="0F172A"/>
                </a:solidFill>
              </a:defRPr>
            </a:pPr>
            <a:r>
              <a:t>Evaluates vendor reliability scores, geopolitical threat indices, and historical delivery compliance.</a:t>
            </a:r>
          </a:p>
        </p:txBody>
      </p:sp>
      <p:sp>
        <p:nvSpPr>
          <p:cNvPr id="14" name="Rounded Rectangle 13"/>
          <p:cNvSpPr/>
          <p:nvPr/>
        </p:nvSpPr>
        <p:spPr>
          <a:xfrm>
            <a:off x="7955280" y="2697480"/>
            <a:ext cx="3383280" cy="137160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2788920"/>
            <a:ext cx="3108960" cy="1188720"/>
          </a:xfrm>
          <a:prstGeom prst="rect">
            <a:avLst/>
          </a:prstGeom>
          <a:noFill/>
        </p:spPr>
        <p:txBody>
          <a:bodyPr wrap="square">
            <a:spAutoFit/>
          </a:bodyPr>
          <a:lstStyle/>
          <a:p>
            <a:pPr>
              <a:defRPr sz="1000" b="1">
                <a:solidFill>
                  <a:srgbClr val="0284C7"/>
                </a:solidFill>
              </a:defRPr>
            </a:pPr>
            <a:r>
              <a:t>LOGISTICS &amp; ROUTING AGENT</a:t>
            </a:r>
          </a:p>
          <a:p>
            <a:pPr>
              <a:defRPr sz="850">
                <a:solidFill>
                  <a:srgbClr val="0F172A"/>
                </a:solidFill>
              </a:defRPr>
            </a:pPr>
            <a:r>
              <a:t>Detects transit delays, chokepoint congestions (e.g. Red Sea), and evaluates alternative carrier lanes.</a:t>
            </a:r>
          </a:p>
        </p:txBody>
      </p:sp>
      <p:sp>
        <p:nvSpPr>
          <p:cNvPr id="16" name="Rounded Rectangle 15"/>
          <p:cNvSpPr/>
          <p:nvPr/>
        </p:nvSpPr>
        <p:spPr>
          <a:xfrm>
            <a:off x="731520" y="4297680"/>
            <a:ext cx="5166360" cy="164592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389120"/>
            <a:ext cx="4892040" cy="1463040"/>
          </a:xfrm>
          <a:prstGeom prst="rect">
            <a:avLst/>
          </a:prstGeom>
          <a:noFill/>
        </p:spPr>
        <p:txBody>
          <a:bodyPr wrap="square">
            <a:spAutoFit/>
          </a:bodyPr>
          <a:lstStyle/>
          <a:p>
            <a:pPr>
              <a:defRPr sz="1100" b="1">
                <a:solidFill>
                  <a:srgbClr val="D97706"/>
                </a:solidFill>
              </a:defRPr>
            </a:pPr>
            <a:r>
              <a:t>RE-PLANNER AGENT + GOOGLE OR-TOOLS MILP</a:t>
            </a:r>
          </a:p>
          <a:p>
            <a:pPr>
              <a:defRPr sz="850">
                <a:solidFill>
                  <a:srgbClr val="0F172A"/>
                </a:solidFill>
              </a:defRPr>
            </a:pPr>
            <a:r>
              <a:t>• Formulates Mixed-Integer Linear Programming objective:</a:t>
            </a:r>
            <a:br/>
            <a:r>
              <a:t>  Minimize Landed Cost = Purchasing Cost + Freight Cost + Penalty Fees</a:t>
            </a:r>
            <a:br/>
            <a:r>
              <a:t>• Subject to: Supplier Capacity, Minimum Order Quantity (MOQ), and Lead Time bounds.</a:t>
            </a:r>
            <a:br/>
            <a:r>
              <a:t>• Outputs guaranteed optimal integer allocation in &lt; 20 ms.</a:t>
            </a:r>
          </a:p>
        </p:txBody>
      </p:sp>
      <p:sp>
        <p:nvSpPr>
          <p:cNvPr id="18" name="Rounded Rectangle 17"/>
          <p:cNvSpPr/>
          <p:nvPr/>
        </p:nvSpPr>
        <p:spPr>
          <a:xfrm>
            <a:off x="6263640" y="4297680"/>
            <a:ext cx="5166360" cy="16459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389120"/>
            <a:ext cx="4892040" cy="1463040"/>
          </a:xfrm>
          <a:prstGeom prst="rect">
            <a:avLst/>
          </a:prstGeom>
          <a:noFill/>
        </p:spPr>
        <p:txBody>
          <a:bodyPr wrap="square">
            <a:spAutoFit/>
          </a:bodyPr>
          <a:lstStyle/>
          <a:p>
            <a:pPr>
              <a:defRPr sz="1100" b="1">
                <a:solidFill>
                  <a:srgbClr val="10B981"/>
                </a:solidFill>
              </a:defRPr>
            </a:pPr>
            <a:r>
              <a:t>REFLECTIVE EVALUATOR AGENT &amp; HITL GATE</a:t>
            </a:r>
          </a:p>
          <a:p>
            <a:pPr>
              <a:defRPr sz="850">
                <a:solidFill>
                  <a:srgbClr val="0F172A"/>
                </a:solidFill>
              </a:defRPr>
            </a:pPr>
            <a:r>
              <a:t>• Adversarially checks re-plan against SLA policies and budget constraints.</a:t>
            </a:r>
            <a:br/>
            <a:r>
              <a:t>• If invalid: returns actionable feedback to Re-Planner for automated bounded replanning.</a:t>
            </a:r>
            <a:br/>
            <a:r>
              <a:t>• If valid: formats plan with contract citations and sends to React 18 UI for one-click human approval.</a:t>
            </a:r>
          </a:p>
        </p:txBody>
      </p:sp>
      <p:sp>
        <p:nvSpPr>
          <p:cNvPr id="20" name="Rounded Rectangle 19"/>
          <p:cNvSpPr/>
          <p:nvPr/>
        </p:nvSpPr>
        <p:spPr>
          <a:xfrm>
            <a:off x="731520" y="6035040"/>
            <a:ext cx="10728655" cy="320040"/>
          </a:xfrm>
          <a:prstGeom prst="roundRect">
            <a:avLst/>
          </a:prstGeom>
          <a:solidFill>
            <a:srgbClr val="0F172A"/>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6053328"/>
            <a:ext cx="10362895" cy="274320"/>
          </a:xfrm>
          <a:prstGeom prst="rect">
            <a:avLst/>
          </a:prstGeom>
          <a:noFill/>
        </p:spPr>
        <p:txBody>
          <a:bodyPr wrap="none">
            <a:spAutoFit/>
          </a:bodyPr>
          <a:lstStyle/>
          <a:p>
            <a:pPr algn="ctr">
              <a:defRPr sz="900" b="1">
                <a:solidFill>
                  <a:srgbClr val="FFFFFF"/>
                </a:solidFill>
              </a:defRPr>
            </a:pPr>
            <a:r>
              <a:t>Architecture Principle: Complete decoupling of LLM qualitative reasoning from mathematical numerical calculation.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COMPONENTS &amp; TOOLS</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Agent Components, Deterministic Tools &amp; Memory Model</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14</a:t>
            </a:r>
          </a:p>
        </p:txBody>
      </p:sp>
      <p:sp>
        <p:nvSpPr>
          <p:cNvPr id="8" name="Rounded Rectangle 7"/>
          <p:cNvSpPr/>
          <p:nvPr/>
        </p:nvSpPr>
        <p:spPr>
          <a:xfrm>
            <a:off x="731520" y="1463040"/>
            <a:ext cx="516636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4800600" cy="2103120"/>
          </a:xfrm>
          <a:prstGeom prst="rect">
            <a:avLst/>
          </a:prstGeom>
          <a:noFill/>
        </p:spPr>
        <p:txBody>
          <a:bodyPr wrap="square">
            <a:spAutoFit/>
          </a:bodyPr>
          <a:lstStyle/>
          <a:p>
            <a:pPr>
              <a:defRPr sz="1100" b="1">
                <a:solidFill>
                  <a:srgbClr val="0F172A"/>
                </a:solidFill>
              </a:defRPr>
            </a:pPr>
            <a:r>
              <a:t>AGENT COMPONENTS &amp; RESPONSIBILITIES</a:t>
            </a:r>
          </a:p>
          <a:p>
            <a:pPr>
              <a:defRPr sz="850">
                <a:solidFill>
                  <a:srgbClr val="0F172A"/>
                </a:solidFill>
              </a:defRPr>
            </a:pPr>
            <a:r>
              <a:t>• Supervisor: StateGraph routing, sub-task dispatching, turn coordination</a:t>
            </a:r>
          </a:p>
          <a:p>
            <a:pPr>
              <a:defRPr sz="850">
                <a:solidFill>
                  <a:srgbClr val="0F172A"/>
                </a:solidFill>
              </a:defRPr>
            </a:pPr>
            <a:r>
              <a:t>• Inventory Analyst: SKU stock auditing, reorder threshold checks, lead-time variance</a:t>
            </a:r>
          </a:p>
          <a:p>
            <a:pPr>
              <a:defRPr sz="850">
                <a:solidFill>
                  <a:srgbClr val="0F172A"/>
                </a:solidFill>
              </a:defRPr>
            </a:pPr>
            <a:r>
              <a:t>• Supplier Risk Agent: Vendor reliability assessment, financial/regional risk rating</a:t>
            </a:r>
          </a:p>
          <a:p>
            <a:pPr>
              <a:defRPr sz="850">
                <a:solidFill>
                  <a:srgbClr val="0F172A"/>
                </a:solidFill>
              </a:defRPr>
            </a:pPr>
            <a:r>
              <a:t>• Logistics Agent: Freight carrier evaluation, delay tracking, transit rerouting</a:t>
            </a:r>
          </a:p>
          <a:p>
            <a:pPr>
              <a:defRPr sz="850">
                <a:solidFill>
                  <a:srgbClr val="0F172A"/>
                </a:solidFill>
              </a:defRPr>
            </a:pPr>
            <a:r>
              <a:t>• Re-Planner &amp; Evaluator: MILP constraint formulation, optimization, SLA validation</a:t>
            </a:r>
          </a:p>
        </p:txBody>
      </p:sp>
      <p:sp>
        <p:nvSpPr>
          <p:cNvPr id="10" name="Rounded Rectangle 9"/>
          <p:cNvSpPr/>
          <p:nvPr/>
        </p:nvSpPr>
        <p:spPr>
          <a:xfrm>
            <a:off x="6263640" y="1463040"/>
            <a:ext cx="5166360" cy="2331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54480"/>
            <a:ext cx="4800600" cy="2103120"/>
          </a:xfrm>
          <a:prstGeom prst="rect">
            <a:avLst/>
          </a:prstGeom>
          <a:noFill/>
        </p:spPr>
        <p:txBody>
          <a:bodyPr wrap="square">
            <a:spAutoFit/>
          </a:bodyPr>
          <a:lstStyle/>
          <a:p>
            <a:pPr>
              <a:defRPr sz="1100" b="1">
                <a:solidFill>
                  <a:srgbClr val="1E3A8A"/>
                </a:solidFill>
              </a:defRPr>
            </a:pPr>
            <a:r>
              <a:t>DETERMINISTIC TOOLS REGISTRY</a:t>
            </a:r>
          </a:p>
          <a:p>
            <a:pPr>
              <a:defRPr sz="850">
                <a:solidFill>
                  <a:srgbClr val="0F172A"/>
                </a:solidFill>
              </a:defRPr>
            </a:pPr>
            <a:r>
              <a:t>• query_inventory_db: Fetches live stock, SKU velocity, and safety thresholds</a:t>
            </a:r>
          </a:p>
          <a:p>
            <a:pPr>
              <a:defRPr sz="850">
                <a:solidFill>
                  <a:srgbClr val="0F172A"/>
                </a:solidFill>
              </a:defRPr>
            </a:pPr>
            <a:r>
              <a:t>• solve_procurement_milp: Invokes Google OR-Tools solver for cost-optimal order splits</a:t>
            </a:r>
          </a:p>
          <a:p>
            <a:pPr>
              <a:defRPr sz="850">
                <a:solidFill>
                  <a:srgbClr val="0F172A"/>
                </a:solidFill>
              </a:defRPr>
            </a:pPr>
            <a:r>
              <a:t>• retrieve_contracts_rag: Hybrid dense+sparse search over contracts, SLAs, and SOPs</a:t>
            </a:r>
          </a:p>
          <a:p>
            <a:pPr>
              <a:defRPr sz="850">
                <a:solidFill>
                  <a:srgbClr val="0F172A"/>
                </a:solidFill>
              </a:defRPr>
            </a:pPr>
            <a:r>
              <a:t>• simulate_disruption: Injects synthetic plant shutdowns and transit delays into sandbox</a:t>
            </a:r>
          </a:p>
          <a:p>
            <a:pPr>
              <a:defRPr sz="850">
                <a:solidFill>
                  <a:srgbClr val="0F172A"/>
                </a:solidFill>
              </a:defRPr>
            </a:pPr>
            <a:r>
              <a:t>• record_audit_decision: Cryptographically signs approved action and logs to PostgreSQL</a:t>
            </a:r>
          </a:p>
        </p:txBody>
      </p:sp>
      <p:sp>
        <p:nvSpPr>
          <p:cNvPr id="12" name="Rounded Rectangle 11"/>
          <p:cNvSpPr/>
          <p:nvPr/>
        </p:nvSpPr>
        <p:spPr>
          <a:xfrm>
            <a:off x="731520" y="3977639"/>
            <a:ext cx="1072865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10362895" cy="2103120"/>
          </a:xfrm>
          <a:prstGeom prst="rect">
            <a:avLst/>
          </a:prstGeom>
          <a:noFill/>
        </p:spPr>
        <p:txBody>
          <a:bodyPr wrap="square">
            <a:spAutoFit/>
          </a:bodyPr>
          <a:lstStyle/>
          <a:p>
            <a:pPr>
              <a:defRPr sz="1100" b="1">
                <a:solidFill>
                  <a:srgbClr val="6D28D9"/>
                </a:solidFill>
              </a:defRPr>
            </a:pPr>
            <a:r>
              <a:t>4-TIER MULTI-AGENT MEMORY ARCHITECTURE</a:t>
            </a:r>
          </a:p>
          <a:p>
            <a:pPr>
              <a:defRPr sz="850">
                <a:solidFill>
                  <a:srgbClr val="0F172A"/>
                </a:solidFill>
              </a:defRPr>
            </a:pPr>
            <a:r>
              <a:t>• 1. Working Memory (Short-Term): LangGraph typed state dictionary (`AgentState`) tracking current turn conversation, active disruption flags, and partial allocations across nodes.</a:t>
            </a:r>
          </a:p>
          <a:p>
            <a:pPr>
              <a:defRPr sz="850">
                <a:solidFill>
                  <a:srgbClr val="0F172A"/>
                </a:solidFill>
              </a:defRPr>
            </a:pPr>
            <a:r>
              <a:t>• 2. Episodic Memory (Scratchpad): Agent-specific execution scratchpads capturing intermediate reasoning chains, solver execution parameters, and validator feedback.</a:t>
            </a:r>
          </a:p>
          <a:p>
            <a:pPr>
              <a:defRPr sz="850">
                <a:solidFill>
                  <a:srgbClr val="0F172A"/>
                </a:solidFill>
              </a:defRPr>
            </a:pPr>
            <a:r>
              <a:t>• 3. Semantic Memory (Knowledge Base): PostgreSQL pgvector database storing vectorized supplier contracts, SLA clauses, vendor profiles, and freight lane metadata.</a:t>
            </a:r>
          </a:p>
          <a:p>
            <a:pPr>
              <a:defRPr sz="850">
                <a:solidFill>
                  <a:srgbClr val="0F172A"/>
                </a:solidFill>
              </a:defRPr>
            </a:pPr>
            <a:r>
              <a:t>• 4. Procedural Memory (Audit Trail): Immutable transaction history in PostgreSQL logging approved decisions, human overrides, and historical re-planning effectiveness.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WORKFLOW</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8. Agent Workflow &amp; Orchestration: StateGraph Execution Loop</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15</a:t>
            </a:r>
          </a:p>
        </p:txBody>
      </p:sp>
      <p:sp>
        <p:nvSpPr>
          <p:cNvPr id="8" name="Rounded Rectangle 7"/>
          <p:cNvSpPr/>
          <p:nvPr/>
        </p:nvSpPr>
        <p:spPr>
          <a:xfrm>
            <a:off x="731520" y="1463040"/>
            <a:ext cx="1371600" cy="192024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54480"/>
            <a:ext cx="1225296" cy="1737360"/>
          </a:xfrm>
          <a:prstGeom prst="rect">
            <a:avLst/>
          </a:prstGeom>
          <a:noFill/>
        </p:spPr>
        <p:txBody>
          <a:bodyPr wrap="square">
            <a:spAutoFit/>
          </a:bodyPr>
          <a:lstStyle/>
          <a:p>
            <a:pPr>
              <a:defRPr sz="900" b="1">
                <a:solidFill>
                  <a:srgbClr val="0F172A"/>
                </a:solidFill>
              </a:defRPr>
            </a:pPr>
            <a:r>
              <a:t>Step 1</a:t>
            </a:r>
          </a:p>
          <a:p>
            <a:pPr>
              <a:defRPr sz="1000" b="1">
                <a:solidFill>
                  <a:srgbClr val="0F172A"/>
                </a:solidFill>
              </a:defRPr>
            </a:pPr>
            <a:r>
              <a:t>Disruption Ingest</a:t>
            </a:r>
          </a:p>
          <a:p>
            <a:pPr>
              <a:defRPr sz="750">
                <a:solidFill>
                  <a:srgbClr val="475569"/>
                </a:solidFill>
              </a:defRPr>
            </a:pPr>
            <a:r>
              <a:t>Sensor alert / query received by Supervisor</a:t>
            </a:r>
          </a:p>
        </p:txBody>
      </p:sp>
      <p:sp>
        <p:nvSpPr>
          <p:cNvPr id="10" name="Rounded Rectangle 9"/>
          <p:cNvSpPr/>
          <p:nvPr/>
        </p:nvSpPr>
        <p:spPr>
          <a:xfrm>
            <a:off x="2286000" y="1463040"/>
            <a:ext cx="1371600" cy="192024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59152" y="1554480"/>
            <a:ext cx="1225296" cy="1737360"/>
          </a:xfrm>
          <a:prstGeom prst="rect">
            <a:avLst/>
          </a:prstGeom>
          <a:noFill/>
        </p:spPr>
        <p:txBody>
          <a:bodyPr wrap="square">
            <a:spAutoFit/>
          </a:bodyPr>
          <a:lstStyle/>
          <a:p>
            <a:pPr>
              <a:defRPr sz="900" b="1">
                <a:solidFill>
                  <a:srgbClr val="6D28D9"/>
                </a:solidFill>
              </a:defRPr>
            </a:pPr>
            <a:r>
              <a:t>Step 2</a:t>
            </a:r>
          </a:p>
          <a:p>
            <a:pPr>
              <a:defRPr sz="1000" b="1">
                <a:solidFill>
                  <a:srgbClr val="0F172A"/>
                </a:solidFill>
              </a:defRPr>
            </a:pPr>
            <a:r>
              <a:t>Parallel Audit</a:t>
            </a:r>
          </a:p>
          <a:p>
            <a:pPr>
              <a:defRPr sz="750">
                <a:solidFill>
                  <a:srgbClr val="475569"/>
                </a:solidFill>
              </a:defRPr>
            </a:pPr>
            <a:r>
              <a:t>Inventory, Supplier, and Logistics agents analyze state</a:t>
            </a:r>
          </a:p>
        </p:txBody>
      </p:sp>
      <p:sp>
        <p:nvSpPr>
          <p:cNvPr id="12" name="Rounded Rectangle 11"/>
          <p:cNvSpPr/>
          <p:nvPr/>
        </p:nvSpPr>
        <p:spPr>
          <a:xfrm>
            <a:off x="3840480" y="1463040"/>
            <a:ext cx="1371600" cy="192024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13632" y="1554480"/>
            <a:ext cx="1225296" cy="1737360"/>
          </a:xfrm>
          <a:prstGeom prst="rect">
            <a:avLst/>
          </a:prstGeom>
          <a:noFill/>
        </p:spPr>
        <p:txBody>
          <a:bodyPr wrap="square">
            <a:spAutoFit/>
          </a:bodyPr>
          <a:lstStyle/>
          <a:p>
            <a:pPr>
              <a:defRPr sz="900" b="1">
                <a:solidFill>
                  <a:srgbClr val="1E3A8A"/>
                </a:solidFill>
              </a:defRPr>
            </a:pPr>
            <a:r>
              <a:t>Step 3</a:t>
            </a:r>
          </a:p>
          <a:p>
            <a:pPr>
              <a:defRPr sz="1000" b="1">
                <a:solidFill>
                  <a:srgbClr val="0F172A"/>
                </a:solidFill>
              </a:defRPr>
            </a:pPr>
            <a:r>
              <a:t>Hybrid RAG</a:t>
            </a:r>
          </a:p>
          <a:p>
            <a:pPr>
              <a:defRPr sz="750">
                <a:solidFill>
                  <a:srgbClr val="475569"/>
                </a:solidFill>
              </a:defRPr>
            </a:pPr>
            <a:r>
              <a:t>Dual dense+BM25 contract clause extraction</a:t>
            </a:r>
          </a:p>
        </p:txBody>
      </p:sp>
      <p:sp>
        <p:nvSpPr>
          <p:cNvPr id="14" name="Rounded Rectangle 13"/>
          <p:cNvSpPr/>
          <p:nvPr/>
        </p:nvSpPr>
        <p:spPr>
          <a:xfrm>
            <a:off x="5394959" y="1463040"/>
            <a:ext cx="1371600" cy="192024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68111" y="1554480"/>
            <a:ext cx="1225296" cy="1737360"/>
          </a:xfrm>
          <a:prstGeom prst="rect">
            <a:avLst/>
          </a:prstGeom>
          <a:noFill/>
        </p:spPr>
        <p:txBody>
          <a:bodyPr wrap="square">
            <a:spAutoFit/>
          </a:bodyPr>
          <a:lstStyle/>
          <a:p>
            <a:pPr>
              <a:defRPr sz="900" b="1">
                <a:solidFill>
                  <a:srgbClr val="0284C7"/>
                </a:solidFill>
              </a:defRPr>
            </a:pPr>
            <a:r>
              <a:t>Step 4</a:t>
            </a:r>
          </a:p>
          <a:p>
            <a:pPr>
              <a:defRPr sz="1000" b="1">
                <a:solidFill>
                  <a:srgbClr val="0F172A"/>
                </a:solidFill>
              </a:defRPr>
            </a:pPr>
            <a:r>
              <a:t>MILP Solver</a:t>
            </a:r>
          </a:p>
          <a:p>
            <a:pPr>
              <a:defRPr sz="750">
                <a:solidFill>
                  <a:srgbClr val="475569"/>
                </a:solidFill>
              </a:defRPr>
            </a:pPr>
            <a:r>
              <a:t>Google OR-Tools computes optimal order split</a:t>
            </a:r>
          </a:p>
        </p:txBody>
      </p:sp>
      <p:sp>
        <p:nvSpPr>
          <p:cNvPr id="16" name="Rounded Rectangle 15"/>
          <p:cNvSpPr/>
          <p:nvPr/>
        </p:nvSpPr>
        <p:spPr>
          <a:xfrm>
            <a:off x="6949440" y="1463040"/>
            <a:ext cx="1371600" cy="192024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22592" y="1554480"/>
            <a:ext cx="1225296" cy="1737360"/>
          </a:xfrm>
          <a:prstGeom prst="rect">
            <a:avLst/>
          </a:prstGeom>
          <a:noFill/>
        </p:spPr>
        <p:txBody>
          <a:bodyPr wrap="square">
            <a:spAutoFit/>
          </a:bodyPr>
          <a:lstStyle/>
          <a:p>
            <a:pPr>
              <a:defRPr sz="900" b="1">
                <a:solidFill>
                  <a:srgbClr val="D97706"/>
                </a:solidFill>
              </a:defRPr>
            </a:pPr>
            <a:r>
              <a:t>Step 5</a:t>
            </a:r>
          </a:p>
          <a:p>
            <a:pPr>
              <a:defRPr sz="1000" b="1">
                <a:solidFill>
                  <a:srgbClr val="0F172A"/>
                </a:solidFill>
              </a:defRPr>
            </a:pPr>
            <a:r>
              <a:t>Evaluation</a:t>
            </a:r>
          </a:p>
          <a:p>
            <a:pPr>
              <a:defRPr sz="750">
                <a:solidFill>
                  <a:srgbClr val="475569"/>
                </a:solidFill>
              </a:defRPr>
            </a:pPr>
            <a:r>
              <a:t>Evaluator verifies plan; loops back if invalid</a:t>
            </a:r>
          </a:p>
        </p:txBody>
      </p:sp>
      <p:sp>
        <p:nvSpPr>
          <p:cNvPr id="18" name="Rounded Rectangle 17"/>
          <p:cNvSpPr/>
          <p:nvPr/>
        </p:nvSpPr>
        <p:spPr>
          <a:xfrm>
            <a:off x="8503920" y="1463040"/>
            <a:ext cx="1371600" cy="192024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77072" y="1554480"/>
            <a:ext cx="1225296" cy="1737360"/>
          </a:xfrm>
          <a:prstGeom prst="rect">
            <a:avLst/>
          </a:prstGeom>
          <a:noFill/>
        </p:spPr>
        <p:txBody>
          <a:bodyPr wrap="square">
            <a:spAutoFit/>
          </a:bodyPr>
          <a:lstStyle/>
          <a:p>
            <a:pPr>
              <a:defRPr sz="900" b="1">
                <a:solidFill>
                  <a:srgbClr val="10B981"/>
                </a:solidFill>
              </a:defRPr>
            </a:pPr>
            <a:r>
              <a:t>Step 6</a:t>
            </a:r>
          </a:p>
          <a:p>
            <a:pPr>
              <a:defRPr sz="1000" b="1">
                <a:solidFill>
                  <a:srgbClr val="0F172A"/>
                </a:solidFill>
              </a:defRPr>
            </a:pPr>
            <a:r>
              <a:t>HITL Gate</a:t>
            </a:r>
          </a:p>
          <a:p>
            <a:pPr>
              <a:defRPr sz="750">
                <a:solidFill>
                  <a:srgbClr val="475569"/>
                </a:solidFill>
              </a:defRPr>
            </a:pPr>
            <a:r>
              <a:t>Manager reviews plan in React 18 UI</a:t>
            </a:r>
          </a:p>
        </p:txBody>
      </p:sp>
      <p:sp>
        <p:nvSpPr>
          <p:cNvPr id="20" name="Rounded Rectangle 19"/>
          <p:cNvSpPr/>
          <p:nvPr/>
        </p:nvSpPr>
        <p:spPr>
          <a:xfrm>
            <a:off x="10058400" y="1463040"/>
            <a:ext cx="1371600" cy="192024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31552" y="1554480"/>
            <a:ext cx="1225296" cy="1737360"/>
          </a:xfrm>
          <a:prstGeom prst="rect">
            <a:avLst/>
          </a:prstGeom>
          <a:noFill/>
        </p:spPr>
        <p:txBody>
          <a:bodyPr wrap="square">
            <a:spAutoFit/>
          </a:bodyPr>
          <a:lstStyle/>
          <a:p>
            <a:pPr>
              <a:defRPr sz="900" b="1">
                <a:solidFill>
                  <a:srgbClr val="0F172A"/>
                </a:solidFill>
              </a:defRPr>
            </a:pPr>
            <a:r>
              <a:t>Step 7</a:t>
            </a:r>
          </a:p>
          <a:p>
            <a:pPr>
              <a:defRPr sz="1000" b="1">
                <a:solidFill>
                  <a:srgbClr val="0F172A"/>
                </a:solidFill>
              </a:defRPr>
            </a:pPr>
            <a:r>
              <a:t>Dispatch &amp; Log</a:t>
            </a:r>
          </a:p>
          <a:p>
            <a:pPr>
              <a:defRPr sz="750">
                <a:solidFill>
                  <a:srgbClr val="475569"/>
                </a:solidFill>
              </a:defRPr>
            </a:pPr>
            <a:r>
              <a:t>Orders dispatched &amp; logged to audit DB</a:t>
            </a:r>
          </a:p>
        </p:txBody>
      </p:sp>
      <p:sp>
        <p:nvSpPr>
          <p:cNvPr id="22" name="Rounded Rectangle 21"/>
          <p:cNvSpPr/>
          <p:nvPr/>
        </p:nvSpPr>
        <p:spPr>
          <a:xfrm>
            <a:off x="731520" y="3611880"/>
            <a:ext cx="10728655" cy="2651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749039"/>
            <a:ext cx="10362895" cy="2377440"/>
          </a:xfrm>
          <a:prstGeom prst="rect">
            <a:avLst/>
          </a:prstGeom>
          <a:noFill/>
        </p:spPr>
        <p:txBody>
          <a:bodyPr wrap="square">
            <a:spAutoFit/>
          </a:bodyPr>
          <a:lstStyle/>
          <a:p>
            <a:pPr>
              <a:defRPr sz="1100" b="1">
                <a:solidFill>
                  <a:srgbClr val="1E3A8A"/>
                </a:solidFill>
              </a:defRPr>
            </a:pPr>
            <a:r>
              <a:t>TECHNICAL ORCHESTRATION MECHANISMS</a:t>
            </a:r>
          </a:p>
          <a:p>
            <a:pPr>
              <a:defRPr sz="850">
                <a:solidFill>
                  <a:srgbClr val="0F172A"/>
                </a:solidFill>
              </a:defRPr>
            </a:pPr>
            <a:r>
              <a:t>• Typed State Schema Enforcement (`AgentState`): Every node transition consumes and produces a strictly typed Pydantic schema, guaranteeing zero schema drift and deterministic state immutability across asynchronous agent workers.</a:t>
            </a:r>
          </a:p>
          <a:p>
            <a:pPr>
              <a:defRPr sz="850">
                <a:solidFill>
                  <a:srgbClr val="0F172A"/>
                </a:solidFill>
              </a:defRPr>
            </a:pPr>
            <a:r>
              <a:t>• Asynchronous Parallel Fan-Out / Fan-In: The Inventory Analyst, Supplier Risk, and Logistics agents execute concurrently using Python asyncio, reducing diagnostic perception latency to under 35 milliseconds.</a:t>
            </a:r>
          </a:p>
          <a:p>
            <a:pPr>
              <a:defRPr sz="850">
                <a:solidFill>
                  <a:srgbClr val="0F172A"/>
                </a:solidFill>
              </a:defRPr>
            </a:pPr>
            <a:r>
              <a:t>• Cyclic Self-Correction Edge: If the Reflective Evaluator detects an unmet SLA or budget violation, the graph executes a conditional edge back to the Re-Planner with targeted feedback, preventing unviable plans from ever reaching the manager.</a:t>
            </a:r>
          </a:p>
          <a:p>
            <a:pPr>
              <a:defRPr sz="850">
                <a:solidFill>
                  <a:srgbClr val="0F172A"/>
                </a:solidFill>
              </a:defRPr>
            </a:pPr>
            <a:r>
              <a:t>• Checkpointed Persistence: The state graph writes snapshots to PostgreSQL at each node boundary, enabling instant state rollback and fault-tolerant resumption during network failures.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RAG ARCHITECTURE</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9. Agentic RAG Implementation: Dense + Sparse Fusion</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16</a:t>
            </a:r>
          </a:p>
        </p:txBody>
      </p:sp>
      <p:sp>
        <p:nvSpPr>
          <p:cNvPr id="8" name="Rounded Rectangle 7"/>
          <p:cNvSpPr/>
          <p:nvPr/>
        </p:nvSpPr>
        <p:spPr>
          <a:xfrm>
            <a:off x="731520" y="1463040"/>
            <a:ext cx="2468880" cy="164592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54480"/>
            <a:ext cx="2249424" cy="1463040"/>
          </a:xfrm>
          <a:prstGeom prst="rect">
            <a:avLst/>
          </a:prstGeom>
          <a:noFill/>
        </p:spPr>
        <p:txBody>
          <a:bodyPr wrap="square">
            <a:spAutoFit/>
          </a:bodyPr>
          <a:lstStyle/>
          <a:p>
            <a:pPr>
              <a:defRPr sz="1050" b="1">
                <a:solidFill>
                  <a:srgbClr val="0F172A"/>
                </a:solidFill>
              </a:defRPr>
            </a:pPr>
            <a:r>
              <a:t>1. Dynamic Query Expansion</a:t>
            </a:r>
          </a:p>
          <a:p>
            <a:pPr>
              <a:defRPr sz="850">
                <a:solidFill>
                  <a:srgbClr val="0F172A"/>
                </a:solidFill>
              </a:defRPr>
            </a:pPr>
            <a:r>
              <a:t>User Query / Disruption</a:t>
            </a:r>
            <a:br/>
            <a:r>
              <a:t>Agent derives search filters</a:t>
            </a:r>
            <a:br/>
            <a:r>
              <a:t>HyDE hypothetical clause expansion</a:t>
            </a:r>
          </a:p>
        </p:txBody>
      </p:sp>
      <p:sp>
        <p:nvSpPr>
          <p:cNvPr id="10" name="Rounded Rectangle 9"/>
          <p:cNvSpPr/>
          <p:nvPr/>
        </p:nvSpPr>
        <p:spPr>
          <a:xfrm>
            <a:off x="3429000" y="1463040"/>
            <a:ext cx="2468880" cy="164592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38728" y="1554480"/>
            <a:ext cx="2249424" cy="1463040"/>
          </a:xfrm>
          <a:prstGeom prst="rect">
            <a:avLst/>
          </a:prstGeom>
          <a:noFill/>
        </p:spPr>
        <p:txBody>
          <a:bodyPr wrap="square">
            <a:spAutoFit/>
          </a:bodyPr>
          <a:lstStyle/>
          <a:p>
            <a:pPr>
              <a:defRPr sz="1050" b="1">
                <a:solidFill>
                  <a:srgbClr val="1E3A8A"/>
                </a:solidFill>
              </a:defRPr>
            </a:pPr>
            <a:r>
              <a:t>2. Dual-Stream Retrieval</a:t>
            </a:r>
          </a:p>
          <a:p>
            <a:pPr>
              <a:defRPr sz="850">
                <a:solidFill>
                  <a:srgbClr val="0F172A"/>
                </a:solidFill>
              </a:defRPr>
            </a:pPr>
            <a:r>
              <a:t>Dense: 768-dim BGE in pgvector</a:t>
            </a:r>
            <a:br/>
            <a:r>
              <a:t>Sparse: Inverted Index BM25</a:t>
            </a:r>
            <a:br/>
            <a:r>
              <a:t>Exact SKU &amp; Clause extraction</a:t>
            </a:r>
          </a:p>
        </p:txBody>
      </p:sp>
      <p:sp>
        <p:nvSpPr>
          <p:cNvPr id="12" name="Rounded Rectangle 11"/>
          <p:cNvSpPr/>
          <p:nvPr/>
        </p:nvSpPr>
        <p:spPr>
          <a:xfrm>
            <a:off x="6126480" y="1463040"/>
            <a:ext cx="2468880" cy="164592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6208" y="1554480"/>
            <a:ext cx="2249424" cy="1463040"/>
          </a:xfrm>
          <a:prstGeom prst="rect">
            <a:avLst/>
          </a:prstGeom>
          <a:noFill/>
        </p:spPr>
        <p:txBody>
          <a:bodyPr wrap="square">
            <a:spAutoFit/>
          </a:bodyPr>
          <a:lstStyle/>
          <a:p>
            <a:pPr>
              <a:defRPr sz="1050" b="1">
                <a:solidFill>
                  <a:srgbClr val="6D28D9"/>
                </a:solidFill>
              </a:defRPr>
            </a:pPr>
            <a:r>
              <a:t>3. Reciprocal Rank Fusion</a:t>
            </a:r>
          </a:p>
          <a:p>
            <a:pPr>
              <a:defRPr sz="850">
                <a:solidFill>
                  <a:srgbClr val="0F172A"/>
                </a:solidFill>
              </a:defRPr>
            </a:pPr>
            <a:r>
              <a:t>RRF Score Formula:</a:t>
            </a:r>
            <a:br/>
            <a:r>
              <a:t>RRF(d) = sum(1 / (60 + r(d)))</a:t>
            </a:r>
            <a:br/>
            <a:r>
              <a:t>Merges semantic &amp; lexical ranks</a:t>
            </a:r>
          </a:p>
        </p:txBody>
      </p:sp>
      <p:sp>
        <p:nvSpPr>
          <p:cNvPr id="14" name="Rounded Rectangle 13"/>
          <p:cNvSpPr/>
          <p:nvPr/>
        </p:nvSpPr>
        <p:spPr>
          <a:xfrm>
            <a:off x="8823960" y="1463040"/>
            <a:ext cx="2468880" cy="16459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33688" y="1554480"/>
            <a:ext cx="2249424" cy="1463040"/>
          </a:xfrm>
          <a:prstGeom prst="rect">
            <a:avLst/>
          </a:prstGeom>
          <a:noFill/>
        </p:spPr>
        <p:txBody>
          <a:bodyPr wrap="square">
            <a:spAutoFit/>
          </a:bodyPr>
          <a:lstStyle/>
          <a:p>
            <a:pPr>
              <a:defRPr sz="1050" b="1">
                <a:solidFill>
                  <a:srgbClr val="10B981"/>
                </a:solidFill>
              </a:defRPr>
            </a:pPr>
            <a:r>
              <a:t>4. Grounded Context Synthesis</a:t>
            </a:r>
          </a:p>
          <a:p>
            <a:pPr>
              <a:defRPr sz="850">
                <a:solidFill>
                  <a:srgbClr val="0F172A"/>
                </a:solidFill>
              </a:defRPr>
            </a:pPr>
            <a:r>
              <a:t>Top-K reranked chunks</a:t>
            </a:r>
            <a:br/>
            <a:r>
              <a:t>Contract clause citations</a:t>
            </a:r>
            <a:br/>
            <a:r>
              <a:t>Zero-hallucination prompt assembly</a:t>
            </a:r>
          </a:p>
        </p:txBody>
      </p:sp>
      <p:sp>
        <p:nvSpPr>
          <p:cNvPr id="16" name="Rounded Rectangle 15"/>
          <p:cNvSpPr/>
          <p:nvPr/>
        </p:nvSpPr>
        <p:spPr>
          <a:xfrm>
            <a:off x="731520" y="3291840"/>
            <a:ext cx="10728655" cy="29260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429000"/>
            <a:ext cx="10362895" cy="2651760"/>
          </a:xfrm>
          <a:prstGeom prst="rect">
            <a:avLst/>
          </a:prstGeom>
          <a:noFill/>
        </p:spPr>
        <p:txBody>
          <a:bodyPr wrap="square">
            <a:spAutoFit/>
          </a:bodyPr>
          <a:lstStyle/>
          <a:p>
            <a:pPr>
              <a:defRPr sz="1100" b="1">
                <a:solidFill>
                  <a:srgbClr val="1E3A8A"/>
                </a:solidFill>
              </a:defRPr>
            </a:pPr>
            <a:r>
              <a:t>WHY HYBRID AGENTIC RAG IS ESSENTIAL FOR SUPPLY CHAINS</a:t>
            </a:r>
          </a:p>
          <a:p>
            <a:pPr>
              <a:defRPr sz="850">
                <a:solidFill>
                  <a:srgbClr val="0F172A"/>
                </a:solidFill>
              </a:defRPr>
            </a:pPr>
            <a:r>
              <a:t>• Eliminates Dense Embedding Blind Spots: Dense vector similarity captures conceptual semantics (e.g. 'penalty terms for delayed delivery'), but frequently fails to match exact alphanumeric codes like 'SKU-4029', 'Section 4.2', or strict currency bounds ($15,000). BM25 guarantees 100% lexical precision for technical tokens.</a:t>
            </a:r>
          </a:p>
          <a:p>
            <a:pPr>
              <a:defRPr sz="850">
                <a:solidFill>
                  <a:srgbClr val="0F172A"/>
                </a:solidFill>
              </a:defRPr>
            </a:pPr>
            <a:r>
              <a:t>• Robust Rank Merging via Reciprocal Rank Fusion (RRF): Traditional vector score combination requires fragile heuristic weighting (e.g. 0.7 * dense + 0.3 * sparse). RRF operates purely on ordinal rankings, eliminating score normalization artifacts across diverse query types.</a:t>
            </a:r>
          </a:p>
          <a:p>
            <a:pPr>
              <a:defRPr sz="850">
                <a:solidFill>
                  <a:srgbClr val="0F172A"/>
                </a:solidFill>
              </a:defRPr>
            </a:pPr>
            <a:r>
              <a:t>• Agent-Directed Metadata Filtering: The agent dynamically inspects disruption context to inject relational SQL filters into the vector search (e.g., `WHERE supplier_id = 'SUP-C' AND document_type = 'contract'`), drastically shrinking the search space and accelerating retrieval to &lt; 15 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RAG MECHANICS</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Knowledge Retrieval &amp; Grounded Generation Details</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17</a:t>
            </a:r>
          </a:p>
        </p:txBody>
      </p:sp>
      <p:sp>
        <p:nvSpPr>
          <p:cNvPr id="8" name="Rounded Rectangle 7"/>
          <p:cNvSpPr/>
          <p:nvPr/>
        </p:nvSpPr>
        <p:spPr>
          <a:xfrm>
            <a:off x="731520" y="1463040"/>
            <a:ext cx="5166360" cy="475488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00600" cy="4480560"/>
          </a:xfrm>
          <a:prstGeom prst="rect">
            <a:avLst/>
          </a:prstGeom>
          <a:noFill/>
        </p:spPr>
        <p:txBody>
          <a:bodyPr wrap="square">
            <a:spAutoFit/>
          </a:bodyPr>
          <a:lstStyle/>
          <a:p>
            <a:pPr>
              <a:defRPr sz="1100" b="1">
                <a:solidFill>
                  <a:srgbClr val="1E3A8A"/>
                </a:solidFill>
              </a:defRPr>
            </a:pPr>
            <a:r>
              <a:t>RETRIEVAL PIPELINE ENGINEERING</a:t>
            </a:r>
          </a:p>
          <a:p>
            <a:pPr>
              <a:defRPr sz="850">
                <a:solidFill>
                  <a:srgbClr val="0F172A"/>
                </a:solidFill>
              </a:defRPr>
            </a:pPr>
            <a:r>
              <a:t>• Pre-Filtering with Metadata: Applies strict SQL pre-filters on `supplier_id`, `jurisdiction`, and `contract_status` prior to nearest-neighbor graph traversal.</a:t>
            </a:r>
          </a:p>
          <a:p>
            <a:pPr>
              <a:defRPr sz="850">
                <a:solidFill>
                  <a:srgbClr val="0F172A"/>
                </a:solidFill>
              </a:defRPr>
            </a:pPr>
            <a:r>
              <a:t>• HNSW Index Configuration: PostgreSQL pgvector configured with `m = 16`, `ef_construction = 64` ensuring &gt; 98% recall with sub-10ms query execution.</a:t>
            </a:r>
          </a:p>
          <a:p>
            <a:pPr>
              <a:defRPr sz="850">
                <a:solidFill>
                  <a:srgbClr val="0F172A"/>
                </a:solidFill>
              </a:defRPr>
            </a:pPr>
            <a:r>
              <a:t>• Reciprocal Rank Fusion Formula: Calculated as: RRF(d) = Σ [ 1 / (60 + rank_dense(d)) + 1 / (60 + rank_bm25(d)) ], effectively penalizing outliers while rewarding consensus documents.</a:t>
            </a:r>
          </a:p>
          <a:p>
            <a:pPr>
              <a:defRPr sz="850">
                <a:solidFill>
                  <a:srgbClr val="0F172A"/>
                </a:solidFill>
              </a:defRPr>
            </a:pPr>
            <a:r>
              <a:t>• Dynamic Top-K Selection: Retrieves Top-5 most authoritative contract paragraphs, ensuring compact prompt payloads that avoid LLM attention degradation.</a:t>
            </a:r>
          </a:p>
        </p:txBody>
      </p:sp>
      <p:sp>
        <p:nvSpPr>
          <p:cNvPr id="10" name="Rounded Rectangle 9"/>
          <p:cNvSpPr/>
          <p:nvPr/>
        </p:nvSpPr>
        <p:spPr>
          <a:xfrm>
            <a:off x="6263640" y="1463040"/>
            <a:ext cx="5166360" cy="4754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4480560"/>
          </a:xfrm>
          <a:prstGeom prst="rect">
            <a:avLst/>
          </a:prstGeom>
          <a:noFill/>
        </p:spPr>
        <p:txBody>
          <a:bodyPr wrap="square">
            <a:spAutoFit/>
          </a:bodyPr>
          <a:lstStyle/>
          <a:p>
            <a:pPr>
              <a:defRPr sz="1100" b="1">
                <a:solidFill>
                  <a:srgbClr val="10B981"/>
                </a:solidFill>
              </a:defRPr>
            </a:pPr>
            <a:r>
              <a:t>GENERATION &amp; ZERO-HALLUCINATION SAFEGUARDS</a:t>
            </a:r>
          </a:p>
          <a:p>
            <a:pPr>
              <a:defRPr sz="850">
                <a:solidFill>
                  <a:srgbClr val="0F172A"/>
                </a:solidFill>
              </a:defRPr>
            </a:pPr>
            <a:r>
              <a:t>• Strict Context-Anchored Prompts: The system prompt explicitly instructs the LLM: 'State only factual claims supported by the provided context. If unknown, state NOT_SPECIFIED.'</a:t>
            </a:r>
          </a:p>
          <a:p>
            <a:pPr>
              <a:defRPr sz="850">
                <a:solidFill>
                  <a:srgbClr val="0F172A"/>
                </a:solidFill>
              </a:defRPr>
            </a:pPr>
            <a:r>
              <a:t>• Verifiable Source Citations: Every generated recommendation appends exact clause citations (e.g. '[Supplier C Agreement, Clause 4.2 - Delay Indemnity]'), allowing human auditors to verify claims instantly.</a:t>
            </a:r>
          </a:p>
          <a:p>
            <a:pPr>
              <a:defRPr sz="850">
                <a:solidFill>
                  <a:srgbClr val="0F172A"/>
                </a:solidFill>
              </a:defRPr>
            </a:pPr>
            <a:r>
              <a:t>• Separation of Policy and Math: The LLM explains policy reasons (e.g. why Supplier C was deprioritized due to lead-time penalties), while the order quantities are rendered directly from the MILP solver's deterministic output.</a:t>
            </a:r>
          </a:p>
          <a:p>
            <a:pPr>
              <a:defRPr sz="850">
                <a:solidFill>
                  <a:srgbClr val="0F172A"/>
                </a:solidFill>
              </a:defRPr>
            </a:pPr>
            <a:r>
              <a:t>• Tamper-Proof Audit JSON: Outputs are wrapped in a cryptographically signed JSON envelope and stored in the database for compliance inspection.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SYSTEM IMPLEMENTATION</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10. System Implementation: Full-Stack Architecture</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18</a:t>
            </a:r>
          </a:p>
        </p:txBody>
      </p:sp>
      <p:sp>
        <p:nvSpPr>
          <p:cNvPr id="8" name="Rounded Rectangle 7"/>
          <p:cNvSpPr/>
          <p:nvPr/>
        </p:nvSpPr>
        <p:spPr>
          <a:xfrm>
            <a:off x="731520" y="1463040"/>
            <a:ext cx="5166360" cy="233172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4892040" cy="2057400"/>
          </a:xfrm>
          <a:prstGeom prst="rect">
            <a:avLst/>
          </a:prstGeom>
          <a:noFill/>
        </p:spPr>
        <p:txBody>
          <a:bodyPr wrap="square">
            <a:spAutoFit/>
          </a:bodyPr>
          <a:lstStyle/>
          <a:p>
            <a:pPr>
              <a:defRPr sz="1100" b="1">
                <a:solidFill>
                  <a:srgbClr val="6D28D9"/>
                </a:solidFill>
              </a:defRPr>
            </a:pPr>
            <a:r>
              <a:t>1. REACT 18 + TYPESCRIPT FRONTEND</a:t>
            </a:r>
          </a:p>
          <a:p>
            <a:pPr>
              <a:defRPr sz="850">
                <a:solidFill>
                  <a:srgbClr val="0F172A"/>
                </a:solidFill>
              </a:defRPr>
            </a:pPr>
            <a:r>
              <a:t>• Executive Disruption Dashboard: Real-time inventory risk gauges &amp; active alert ticker.</a:t>
            </a:r>
          </a:p>
          <a:p>
            <a:pPr>
              <a:defRPr sz="850">
                <a:solidFill>
                  <a:srgbClr val="0F172A"/>
                </a:solidFill>
              </a:defRPr>
            </a:pPr>
            <a:r>
              <a:t>• Interactive Risk Heatmap: Network graph of 7 suppliers, 4 hubs, and 16 freight routes.</a:t>
            </a:r>
          </a:p>
          <a:p>
            <a:pPr>
              <a:defRPr sz="850">
                <a:solidFill>
                  <a:srgbClr val="0F172A"/>
                </a:solidFill>
              </a:defRPr>
            </a:pPr>
            <a:r>
              <a:t>• What-If Simulation Sandbox: Sliders to inject supplier outages and lead-time surges.</a:t>
            </a:r>
          </a:p>
          <a:p>
            <a:pPr>
              <a:defRPr sz="850">
                <a:solidFill>
                  <a:srgbClr val="0F172A"/>
                </a:solidFill>
              </a:defRPr>
            </a:pPr>
            <a:r>
              <a:t>• Streaming Agent Thoughts: Server-Sent Events (SSE) displaying live agent reasoning.</a:t>
            </a:r>
          </a:p>
        </p:txBody>
      </p:sp>
      <p:sp>
        <p:nvSpPr>
          <p:cNvPr id="10" name="Rounded Rectangle 9"/>
          <p:cNvSpPr/>
          <p:nvPr/>
        </p:nvSpPr>
        <p:spPr>
          <a:xfrm>
            <a:off x="6263640" y="1463040"/>
            <a:ext cx="5166360" cy="233172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92040" cy="2057400"/>
          </a:xfrm>
          <a:prstGeom prst="rect">
            <a:avLst/>
          </a:prstGeom>
          <a:noFill/>
        </p:spPr>
        <p:txBody>
          <a:bodyPr wrap="square">
            <a:spAutoFit/>
          </a:bodyPr>
          <a:lstStyle/>
          <a:p>
            <a:pPr>
              <a:defRPr sz="1100" b="1">
                <a:solidFill>
                  <a:srgbClr val="1E3A8A"/>
                </a:solidFill>
              </a:defRPr>
            </a:pPr>
            <a:r>
              <a:t>2. FASTAPI ASYNC BACKEND ENGINE</a:t>
            </a:r>
          </a:p>
          <a:p>
            <a:pPr>
              <a:defRPr sz="850">
                <a:solidFill>
                  <a:srgbClr val="0F172A"/>
                </a:solidFill>
              </a:defRPr>
            </a:pPr>
            <a:r>
              <a:t>• High-Performance ASGI: Built on Python 3.11 with async REST endpoints and SSE streams.</a:t>
            </a:r>
          </a:p>
          <a:p>
            <a:pPr>
              <a:defRPr sz="850">
                <a:solidFill>
                  <a:srgbClr val="0F172A"/>
                </a:solidFill>
              </a:defRPr>
            </a:pPr>
            <a:r>
              <a:t>• Pydantic v2 Contract Validation: Validates all incoming payloads and solver responses.</a:t>
            </a:r>
          </a:p>
          <a:p>
            <a:pPr>
              <a:defRPr sz="850">
                <a:solidFill>
                  <a:srgbClr val="0F172A"/>
                </a:solidFill>
              </a:defRPr>
            </a:pPr>
            <a:r>
              <a:t>• LangGraph Execution Runtime: Manages agent lifecycle, checkpointing, and thread memory.</a:t>
            </a:r>
          </a:p>
          <a:p>
            <a:pPr>
              <a:defRPr sz="850">
                <a:solidFill>
                  <a:srgbClr val="0F172A"/>
                </a:solidFill>
              </a:defRPr>
            </a:pPr>
            <a:r>
              <a:t>• Secure CORS &amp; Middleware: Enterprise-ready authentication and audit logging.</a:t>
            </a:r>
          </a:p>
        </p:txBody>
      </p:sp>
      <p:sp>
        <p:nvSpPr>
          <p:cNvPr id="12" name="Rounded Rectangle 11"/>
          <p:cNvSpPr/>
          <p:nvPr/>
        </p:nvSpPr>
        <p:spPr>
          <a:xfrm>
            <a:off x="731520" y="3931920"/>
            <a:ext cx="5166360" cy="233172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69080"/>
            <a:ext cx="4892040" cy="2057400"/>
          </a:xfrm>
          <a:prstGeom prst="rect">
            <a:avLst/>
          </a:prstGeom>
          <a:noFill/>
        </p:spPr>
        <p:txBody>
          <a:bodyPr wrap="square">
            <a:spAutoFit/>
          </a:bodyPr>
          <a:lstStyle/>
          <a:p>
            <a:pPr>
              <a:defRPr sz="1100" b="1">
                <a:solidFill>
                  <a:srgbClr val="0284C7"/>
                </a:solidFill>
              </a:defRPr>
            </a:pPr>
            <a:r>
              <a:t>3. GOOGLE OR-TOOLS MILP SOLVER</a:t>
            </a:r>
          </a:p>
          <a:p>
            <a:pPr>
              <a:defRPr sz="850">
                <a:solidFill>
                  <a:srgbClr val="0F172A"/>
                </a:solidFill>
              </a:defRPr>
            </a:pPr>
            <a:r>
              <a:t>• Exact Mathematical Solver: CBC / SCIP mixed-integer programming algorithms.</a:t>
            </a:r>
          </a:p>
          <a:p>
            <a:pPr>
              <a:defRPr sz="850">
                <a:solidFill>
                  <a:srgbClr val="0F172A"/>
                </a:solidFill>
              </a:defRPr>
            </a:pPr>
            <a:r>
              <a:t>• Hard Constraints: Supplier maximum capacity, minimum order quantity (MOQ), delivery deadlines.</a:t>
            </a:r>
          </a:p>
          <a:p>
            <a:pPr>
              <a:defRPr sz="850">
                <a:solidFill>
                  <a:srgbClr val="0F172A"/>
                </a:solidFill>
              </a:defRPr>
            </a:pPr>
            <a:r>
              <a:t>• Multi-Objective Cost Function: Landed cost = purchase price + transit fees + SLA penalties.</a:t>
            </a:r>
          </a:p>
          <a:p>
            <a:pPr>
              <a:defRPr sz="850">
                <a:solidFill>
                  <a:srgbClr val="0F172A"/>
                </a:solidFill>
              </a:defRPr>
            </a:pPr>
            <a:r>
              <a:t>• Execution Performance: Computes global optimum in 12.4 ms for 10,000 units.</a:t>
            </a:r>
          </a:p>
        </p:txBody>
      </p:sp>
      <p:sp>
        <p:nvSpPr>
          <p:cNvPr id="14" name="Rounded Rectangle 13"/>
          <p:cNvSpPr/>
          <p:nvPr/>
        </p:nvSpPr>
        <p:spPr>
          <a:xfrm>
            <a:off x="6263640" y="3931920"/>
            <a:ext cx="5166360" cy="233172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92040" cy="2057400"/>
          </a:xfrm>
          <a:prstGeom prst="rect">
            <a:avLst/>
          </a:prstGeom>
          <a:noFill/>
        </p:spPr>
        <p:txBody>
          <a:bodyPr wrap="square">
            <a:spAutoFit/>
          </a:bodyPr>
          <a:lstStyle/>
          <a:p>
            <a:pPr>
              <a:defRPr sz="1100" b="1">
                <a:solidFill>
                  <a:srgbClr val="0F172A"/>
                </a:solidFill>
              </a:defRPr>
            </a:pPr>
            <a:r>
              <a:t>4. POSTGRESQL 16 + PGVECTOR STORAGE</a:t>
            </a:r>
          </a:p>
          <a:p>
            <a:pPr>
              <a:defRPr sz="850">
                <a:solidFill>
                  <a:srgbClr val="0F172A"/>
                </a:solidFill>
              </a:defRPr>
            </a:pPr>
            <a:r>
              <a:t>• Relational Storage: SKUs, suppliers, distribution centers, routes, and historical PO records.</a:t>
            </a:r>
          </a:p>
          <a:p>
            <a:pPr>
              <a:defRPr sz="850">
                <a:solidFill>
                  <a:srgbClr val="0F172A"/>
                </a:solidFill>
              </a:defRPr>
            </a:pPr>
            <a:r>
              <a:t>• Vector Store: HNSW-indexed 768-dim embeddings for sub-10ms similarity search.</a:t>
            </a:r>
          </a:p>
          <a:p>
            <a:pPr>
              <a:defRPr sz="850">
                <a:solidFill>
                  <a:srgbClr val="0F172A"/>
                </a:solidFill>
              </a:defRPr>
            </a:pPr>
            <a:r>
              <a:t>• Immutable Audit Ledger: Cryptographically hashed decision trails for regulatory compliance.</a:t>
            </a:r>
          </a:p>
          <a:p>
            <a:pPr>
              <a:defRPr sz="850">
                <a:solidFill>
                  <a:srgbClr val="0F172A"/>
                </a:solidFill>
              </a:defRPr>
            </a:pPr>
            <a:r>
              <a:t>• Containerized Deployment: Multi-container Docker Compose with health checks.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EVALUATION</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11. Experimental Evaluation &amp; Verification Methodology</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19</a:t>
            </a:r>
          </a:p>
        </p:txBody>
      </p:sp>
      <p:sp>
        <p:nvSpPr>
          <p:cNvPr id="8" name="Rounded Rectangle 7"/>
          <p:cNvSpPr/>
          <p:nvPr/>
        </p:nvSpPr>
        <p:spPr>
          <a:xfrm>
            <a:off x="731520" y="1463040"/>
            <a:ext cx="2468880" cy="128016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72768"/>
            <a:ext cx="2194560" cy="1060704"/>
          </a:xfrm>
          <a:prstGeom prst="rect">
            <a:avLst/>
          </a:prstGeom>
          <a:noFill/>
        </p:spPr>
        <p:txBody>
          <a:bodyPr wrap="square" lIns="0" tIns="0" rIns="0" bIns="0">
            <a:spAutoFit/>
          </a:bodyPr>
          <a:lstStyle/>
          <a:p>
            <a:pPr>
              <a:defRPr sz="2200" b="1">
                <a:solidFill>
                  <a:srgbClr val="10B981"/>
                </a:solidFill>
              </a:defRPr>
            </a:pPr>
            <a:r>
              <a:t>19 / 19</a:t>
            </a:r>
          </a:p>
          <a:p>
            <a:pPr>
              <a:defRPr sz="1000" b="1">
                <a:solidFill>
                  <a:srgbClr val="0F172A"/>
                </a:solidFill>
              </a:defRPr>
            </a:pPr>
            <a:r>
              <a:t>Automated Tests Passed</a:t>
            </a:r>
          </a:p>
          <a:p>
            <a:pPr>
              <a:defRPr sz="850">
                <a:solidFill>
                  <a:srgbClr val="475569"/>
                </a:solidFill>
              </a:defRPr>
            </a:pPr>
            <a:r>
              <a:t>100% pass rate in 2.40s</a:t>
            </a:r>
          </a:p>
        </p:txBody>
      </p:sp>
      <p:sp>
        <p:nvSpPr>
          <p:cNvPr id="10" name="Rounded Rectangle 9"/>
          <p:cNvSpPr/>
          <p:nvPr/>
        </p:nvSpPr>
        <p:spPr>
          <a:xfrm>
            <a:off x="3429000" y="1463040"/>
            <a:ext cx="2468880" cy="128016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572768"/>
            <a:ext cx="2194560" cy="1060704"/>
          </a:xfrm>
          <a:prstGeom prst="rect">
            <a:avLst/>
          </a:prstGeom>
          <a:noFill/>
        </p:spPr>
        <p:txBody>
          <a:bodyPr wrap="square" lIns="0" tIns="0" rIns="0" bIns="0">
            <a:spAutoFit/>
          </a:bodyPr>
          <a:lstStyle/>
          <a:p>
            <a:pPr>
              <a:defRPr sz="2200" b="1">
                <a:solidFill>
                  <a:srgbClr val="1E3A8A"/>
                </a:solidFill>
              </a:defRPr>
            </a:pPr>
            <a:r>
              <a:t>125 ms</a:t>
            </a:r>
          </a:p>
          <a:p>
            <a:pPr>
              <a:defRPr sz="1000" b="1">
                <a:solidFill>
                  <a:srgbClr val="0F172A"/>
                </a:solidFill>
              </a:defRPr>
            </a:pPr>
            <a:r>
              <a:t>Baseline Plan Latency</a:t>
            </a:r>
          </a:p>
          <a:p>
            <a:pPr>
              <a:defRPr sz="850">
                <a:solidFill>
                  <a:srgbClr val="475569"/>
                </a:solidFill>
              </a:defRPr>
            </a:pPr>
            <a:r>
              <a:t>10k units across 7 vendors</a:t>
            </a:r>
          </a:p>
        </p:txBody>
      </p:sp>
      <p:sp>
        <p:nvSpPr>
          <p:cNvPr id="12" name="Rounded Rectangle 11"/>
          <p:cNvSpPr/>
          <p:nvPr/>
        </p:nvSpPr>
        <p:spPr>
          <a:xfrm>
            <a:off x="6126480" y="1463040"/>
            <a:ext cx="2468880" cy="128016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572768"/>
            <a:ext cx="2194560" cy="1060704"/>
          </a:xfrm>
          <a:prstGeom prst="rect">
            <a:avLst/>
          </a:prstGeom>
          <a:noFill/>
        </p:spPr>
        <p:txBody>
          <a:bodyPr wrap="square" lIns="0" tIns="0" rIns="0" bIns="0">
            <a:spAutoFit/>
          </a:bodyPr>
          <a:lstStyle/>
          <a:p>
            <a:pPr>
              <a:defRPr sz="2200" b="1">
                <a:solidFill>
                  <a:srgbClr val="0284C7"/>
                </a:solidFill>
              </a:defRPr>
            </a:pPr>
            <a:r>
              <a:t>100%</a:t>
            </a:r>
          </a:p>
          <a:p>
            <a:pPr>
              <a:defRPr sz="1000" b="1">
                <a:solidFill>
                  <a:srgbClr val="0F172A"/>
                </a:solidFill>
              </a:defRPr>
            </a:pPr>
            <a:r>
              <a:t>Constraint Satisfaction</a:t>
            </a:r>
          </a:p>
          <a:p>
            <a:pPr>
              <a:defRPr sz="850">
                <a:solidFill>
                  <a:srgbClr val="475569"/>
                </a:solidFill>
              </a:defRPr>
            </a:pPr>
            <a:r>
              <a:t>0 capacity or MOQ breaches</a:t>
            </a:r>
          </a:p>
        </p:txBody>
      </p:sp>
      <p:sp>
        <p:nvSpPr>
          <p:cNvPr id="14" name="Rounded Rectangle 13"/>
          <p:cNvSpPr/>
          <p:nvPr/>
        </p:nvSpPr>
        <p:spPr>
          <a:xfrm>
            <a:off x="8823960" y="1463040"/>
            <a:ext cx="2468880" cy="128016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1572768"/>
            <a:ext cx="2194560" cy="1060704"/>
          </a:xfrm>
          <a:prstGeom prst="rect">
            <a:avLst/>
          </a:prstGeom>
          <a:noFill/>
        </p:spPr>
        <p:txBody>
          <a:bodyPr wrap="square" lIns="0" tIns="0" rIns="0" bIns="0">
            <a:spAutoFit/>
          </a:bodyPr>
          <a:lstStyle/>
          <a:p>
            <a:pPr>
              <a:defRPr sz="2200" b="1">
                <a:solidFill>
                  <a:srgbClr val="6D28D9"/>
                </a:solidFill>
              </a:defRPr>
            </a:pPr>
            <a:r>
              <a:t>0.0%</a:t>
            </a:r>
          </a:p>
          <a:p>
            <a:pPr>
              <a:defRPr sz="1000" b="1">
                <a:solidFill>
                  <a:srgbClr val="0F172A"/>
                </a:solidFill>
              </a:defRPr>
            </a:pPr>
            <a:r>
              <a:t>Arithmetic Hallucination</a:t>
            </a:r>
          </a:p>
          <a:p>
            <a:pPr>
              <a:defRPr sz="850">
                <a:solidFill>
                  <a:srgbClr val="475569"/>
                </a:solidFill>
              </a:defRPr>
            </a:pPr>
            <a:r>
              <a:t>Decoupled MILP solver</a:t>
            </a:r>
          </a:p>
        </p:txBody>
      </p:sp>
      <p:sp>
        <p:nvSpPr>
          <p:cNvPr id="16" name="Rounded Rectangle 15"/>
          <p:cNvSpPr/>
          <p:nvPr/>
        </p:nvSpPr>
        <p:spPr>
          <a:xfrm>
            <a:off x="731520" y="2971800"/>
            <a:ext cx="10728655"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108960"/>
            <a:ext cx="10362895" cy="3017520"/>
          </a:xfrm>
          <a:prstGeom prst="rect">
            <a:avLst/>
          </a:prstGeom>
          <a:noFill/>
        </p:spPr>
        <p:txBody>
          <a:bodyPr wrap="square">
            <a:spAutoFit/>
          </a:bodyPr>
          <a:lstStyle/>
          <a:p>
            <a:pPr>
              <a:defRPr sz="1100" b="1">
                <a:solidFill>
                  <a:srgbClr val="0F172A"/>
                </a:solidFill>
              </a:defRPr>
            </a:pPr>
            <a:r>
              <a:t>COMPREHENSIVE TESTING &amp; VERIFICATION METHODOLOGY</a:t>
            </a:r>
          </a:p>
          <a:p>
            <a:pPr>
              <a:defRPr sz="850">
                <a:solidFill>
                  <a:srgbClr val="0F172A"/>
                </a:solidFill>
              </a:defRPr>
            </a:pPr>
            <a:r>
              <a:t>• Automated Test Suite Execution: All components are rigorously validated using Pytest (`test_extended_verification.py`), executing 19 end-to-end unit and integration tests covering multi-agent state transitions, solver edge cases, RAG retrieval accuracy, and database persistence.</a:t>
            </a:r>
          </a:p>
          <a:p>
            <a:pPr>
              <a:defRPr sz="850">
                <a:solidFill>
                  <a:srgbClr val="0F172A"/>
                </a:solidFill>
              </a:defRPr>
            </a:pPr>
            <a:r>
              <a:t>• Multi-Agent StateGraph Cyclical Loops: Verified conditional routing edges ensuring that malformed plans, exceeding supplier capacities or breaking delivery deadlines, are correctly intercepted by the Evaluator Agent and recycled for replenishment re-planning.</a:t>
            </a:r>
          </a:p>
          <a:p>
            <a:pPr>
              <a:defRPr sz="850">
                <a:solidFill>
                  <a:srgbClr val="0F172A"/>
                </a:solidFill>
              </a:defRPr>
            </a:pPr>
            <a:r>
              <a:t>• Mathematical Solver Correctness: Validated Google OR-Tools CBC/SCIP solver across boundary conditions: zero available stock, single-supplier dominance, multi-supplier outages, and minimum order quantity step functions.</a:t>
            </a:r>
          </a:p>
          <a:p>
            <a:pPr>
              <a:defRPr sz="850">
                <a:solidFill>
                  <a:srgbClr val="0F172A"/>
                </a:solidFill>
              </a:defRPr>
            </a:pPr>
            <a:r>
              <a:t>• RAG Citation &amp; Faithfulness Benchmarking: Verified that 100% of generated legal claims trace back to indexed supplier MSAs and contract clauses with exact document section references.</a:t>
            </a:r>
          </a:p>
          <a:p>
            <a:pPr>
              <a:defRPr sz="850">
                <a:solidFill>
                  <a:srgbClr val="0F172A"/>
                </a:solidFill>
              </a:defRPr>
            </a:pPr>
            <a:r>
              <a:t>• Human-in-the-Loop State Persistence: Validated state freezing at the HITL approval gate, ensuring that unapproved plans cannot execute or mutate live inventory records.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RESULTS</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Performance Results: Empirical Benchmarks &amp; Scenarios</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20</a:t>
            </a:r>
          </a:p>
        </p:txBody>
      </p:sp>
      <p:graphicFrame>
        <p:nvGraphicFramePr>
          <p:cNvPr id="8" name="Table 7"/>
          <p:cNvGraphicFramePr>
            <a:graphicFrameLocks noGrp="1"/>
          </p:cNvGraphicFramePr>
          <p:nvPr/>
        </p:nvGraphicFramePr>
        <p:xfrm>
          <a:off x="731520" y="1463040"/>
          <a:ext cx="10728655" cy="2377440"/>
        </p:xfrm>
        <a:graphic>
          <a:graphicData uri="http://schemas.openxmlformats.org/drawingml/2006/table">
            <a:tbl>
              <a:tblPr firstRow="1" bandRow="1">
                <a:tableStyleId>{5C22544A-7EE6-4342-B048-85BDC9FD1C3A}</a:tableStyleId>
              </a:tblPr>
              <a:tblGrid>
                <a:gridCol w="2286000"/>
                <a:gridCol w="3291840"/>
                <a:gridCol w="1188720"/>
                <a:gridCol w="1463040"/>
                <a:gridCol w="1188720"/>
                <a:gridCol w="1310335"/>
              </a:tblGrid>
              <a:tr h="475488">
                <a:tc>
                  <a:txBody>
                    <a:bodyPr/>
                    <a:lstStyle/>
                    <a:p>
                      <a:pPr algn="ctr">
                        <a:defRPr sz="1050" b="1">
                          <a:solidFill>
                            <a:srgbClr val="FFFFFF"/>
                          </a:solidFill>
                        </a:defRPr>
                      </a:pPr>
                      <a:r>
                        <a:t>Scenario / Benchmark Run</a:t>
                      </a:r>
                    </a:p>
                  </a:txBody>
                  <a:tcPr>
                    <a:solidFill>
                      <a:srgbClr val="0F172A"/>
                    </a:solidFill>
                  </a:tcPr>
                </a:tc>
                <a:tc>
                  <a:txBody>
                    <a:bodyPr/>
                    <a:lstStyle/>
                    <a:p>
                      <a:pPr algn="ctr">
                        <a:defRPr sz="1050" b="1">
                          <a:solidFill>
                            <a:srgbClr val="FFFFFF"/>
                          </a:solidFill>
                        </a:defRPr>
                      </a:pPr>
                      <a:r>
                        <a:t>Workload / Disruption Context</a:t>
                      </a:r>
                    </a:p>
                  </a:txBody>
                  <a:tcPr>
                    <a:solidFill>
                      <a:srgbClr val="0F172A"/>
                    </a:solidFill>
                  </a:tcPr>
                </a:tc>
                <a:tc>
                  <a:txBody>
                    <a:bodyPr/>
                    <a:lstStyle/>
                    <a:p>
                      <a:pPr algn="ctr">
                        <a:defRPr sz="1050" b="1">
                          <a:solidFill>
                            <a:srgbClr val="FFFFFF"/>
                          </a:solidFill>
                        </a:defRPr>
                      </a:pPr>
                      <a:r>
                        <a:t>Solver Time</a:t>
                      </a:r>
                    </a:p>
                  </a:txBody>
                  <a:tcPr>
                    <a:solidFill>
                      <a:srgbClr val="0F172A"/>
                    </a:solidFill>
                  </a:tcPr>
                </a:tc>
                <a:tc>
                  <a:txBody>
                    <a:bodyPr/>
                    <a:lstStyle/>
                    <a:p>
                      <a:pPr algn="ctr">
                        <a:defRPr sz="1050" b="1">
                          <a:solidFill>
                            <a:srgbClr val="FFFFFF"/>
                          </a:solidFill>
                        </a:defRPr>
                      </a:pPr>
                      <a:r>
                        <a:t>Total Plan Latency</a:t>
                      </a:r>
                    </a:p>
                  </a:txBody>
                  <a:tcPr>
                    <a:solidFill>
                      <a:srgbClr val="0F172A"/>
                    </a:solidFill>
                  </a:tcPr>
                </a:tc>
                <a:tc>
                  <a:txBody>
                    <a:bodyPr/>
                    <a:lstStyle/>
                    <a:p>
                      <a:pPr algn="ctr">
                        <a:defRPr sz="1050" b="1">
                          <a:solidFill>
                            <a:srgbClr val="FFFFFF"/>
                          </a:solidFill>
                        </a:defRPr>
                      </a:pPr>
                      <a:r>
                        <a:t>Total Cost ($)</a:t>
                      </a:r>
                    </a:p>
                  </a:txBody>
                  <a:tcPr>
                    <a:solidFill>
                      <a:srgbClr val="0F172A"/>
                    </a:solidFill>
                  </a:tcPr>
                </a:tc>
                <a:tc>
                  <a:txBody>
                    <a:bodyPr/>
                    <a:lstStyle/>
                    <a:p>
                      <a:pPr algn="ctr">
                        <a:defRPr sz="1050" b="1">
                          <a:solidFill>
                            <a:srgbClr val="FFFFFF"/>
                          </a:solidFill>
                        </a:defRPr>
                      </a:pPr>
                      <a:r>
                        <a:t>Constraint Violations</a:t>
                      </a:r>
                    </a:p>
                  </a:txBody>
                  <a:tcPr>
                    <a:solidFill>
                      <a:srgbClr val="0F172A"/>
                    </a:solidFill>
                  </a:tcPr>
                </a:tc>
              </a:tr>
              <a:tr h="475488">
                <a:tc>
                  <a:txBody>
                    <a:bodyPr/>
                    <a:lstStyle/>
                    <a:p>
                      <a:pPr>
                        <a:defRPr sz="950" b="1">
                          <a:solidFill>
                            <a:srgbClr val="0F172A"/>
                          </a:solidFill>
                        </a:defRPr>
                      </a:pPr>
                      <a:r>
                        <a:t>Decision Run #52 (Baseline)</a:t>
                      </a:r>
                    </a:p>
                  </a:txBody>
                  <a:tcPr>
                    <a:solidFill>
                      <a:srgbClr val="FFFFFF"/>
                    </a:solidFill>
                  </a:tcPr>
                </a:tc>
                <a:tc>
                  <a:txBody>
                    <a:bodyPr/>
                    <a:lstStyle/>
                    <a:p>
                      <a:pPr>
                        <a:defRPr sz="950">
                          <a:solidFill>
                            <a:srgbClr val="0F172A"/>
                          </a:solidFill>
                        </a:defRPr>
                      </a:pPr>
                      <a:r>
                        <a:t>10,000 units Product A across 7 suppliers</a:t>
                      </a:r>
                    </a:p>
                  </a:txBody>
                  <a:tcPr>
                    <a:solidFill>
                      <a:srgbClr val="FFFFFF"/>
                    </a:solidFill>
                  </a:tcPr>
                </a:tc>
                <a:tc>
                  <a:txBody>
                    <a:bodyPr/>
                    <a:lstStyle/>
                    <a:p>
                      <a:pPr algn="ctr">
                        <a:defRPr sz="950">
                          <a:solidFill>
                            <a:srgbClr val="0F172A"/>
                          </a:solidFill>
                        </a:defRPr>
                      </a:pPr>
                      <a:r>
                        <a:t>12.4 ms</a:t>
                      </a:r>
                    </a:p>
                  </a:txBody>
                  <a:tcPr>
                    <a:solidFill>
                      <a:srgbClr val="FFFFFF"/>
                    </a:solidFill>
                  </a:tcPr>
                </a:tc>
                <a:tc>
                  <a:txBody>
                    <a:bodyPr/>
                    <a:lstStyle/>
                    <a:p>
                      <a:pPr algn="ctr">
                        <a:defRPr sz="950">
                          <a:solidFill>
                            <a:srgbClr val="0F172A"/>
                          </a:solidFill>
                        </a:defRPr>
                      </a:pPr>
                      <a:r>
                        <a:t>125.0 ms</a:t>
                      </a:r>
                    </a:p>
                  </a:txBody>
                  <a:tcPr>
                    <a:solidFill>
                      <a:srgbClr val="FFFFFF"/>
                    </a:solidFill>
                  </a:tcPr>
                </a:tc>
                <a:tc>
                  <a:txBody>
                    <a:bodyPr/>
                    <a:lstStyle/>
                    <a:p>
                      <a:pPr algn="ctr">
                        <a:defRPr sz="950">
                          <a:solidFill>
                            <a:srgbClr val="0F172A"/>
                          </a:solidFill>
                        </a:defRPr>
                      </a:pPr>
                      <a:r>
                        <a:t>$42,868.81</a:t>
                      </a:r>
                    </a:p>
                  </a:txBody>
                  <a:tcPr>
                    <a:solidFill>
                      <a:srgbClr val="FFFFFF"/>
                    </a:solidFill>
                  </a:tcPr>
                </a:tc>
                <a:tc>
                  <a:txBody>
                    <a:bodyPr/>
                    <a:lstStyle/>
                    <a:p>
                      <a:pPr algn="ctr">
                        <a:defRPr sz="950">
                          <a:solidFill>
                            <a:srgbClr val="0F172A"/>
                          </a:solidFill>
                        </a:defRPr>
                      </a:pPr>
                      <a:r>
                        <a:t>0 (100% Feasible)</a:t>
                      </a:r>
                    </a:p>
                  </a:txBody>
                  <a:tcPr>
                    <a:solidFill>
                      <a:srgbClr val="FFFFFF"/>
                    </a:solidFill>
                  </a:tcPr>
                </a:tc>
              </a:tr>
              <a:tr h="475488">
                <a:tc>
                  <a:txBody>
                    <a:bodyPr/>
                    <a:lstStyle/>
                    <a:p>
                      <a:pPr>
                        <a:defRPr sz="950" b="1">
                          <a:solidFill>
                            <a:srgbClr val="0F172A"/>
                          </a:solidFill>
                        </a:defRPr>
                      </a:pPr>
                      <a:r>
                        <a:t>What-If: SUP-C Outage</a:t>
                      </a:r>
                    </a:p>
                  </a:txBody>
                  <a:tcPr>
                    <a:solidFill>
                      <a:srgbClr val="F1F5F9"/>
                    </a:solidFill>
                  </a:tcPr>
                </a:tc>
                <a:tc>
                  <a:txBody>
                    <a:bodyPr/>
                    <a:lstStyle/>
                    <a:p>
                      <a:pPr>
                        <a:defRPr sz="950">
                          <a:solidFill>
                            <a:srgbClr val="0F172A"/>
                          </a:solidFill>
                        </a:defRPr>
                      </a:pPr>
                      <a:r>
                        <a:t>Sudden 100% shutdown of primary supplier (SUP-C)</a:t>
                      </a:r>
                    </a:p>
                  </a:txBody>
                  <a:tcPr>
                    <a:solidFill>
                      <a:srgbClr val="F1F5F9"/>
                    </a:solidFill>
                  </a:tcPr>
                </a:tc>
                <a:tc>
                  <a:txBody>
                    <a:bodyPr/>
                    <a:lstStyle/>
                    <a:p>
                      <a:pPr algn="ctr">
                        <a:defRPr sz="950">
                          <a:solidFill>
                            <a:srgbClr val="0F172A"/>
                          </a:solidFill>
                        </a:defRPr>
                      </a:pPr>
                      <a:r>
                        <a:t>8.2 ms</a:t>
                      </a:r>
                    </a:p>
                  </a:txBody>
                  <a:tcPr>
                    <a:solidFill>
                      <a:srgbClr val="F1F5F9"/>
                    </a:solidFill>
                  </a:tcPr>
                </a:tc>
                <a:tc>
                  <a:txBody>
                    <a:bodyPr/>
                    <a:lstStyle/>
                    <a:p>
                      <a:pPr algn="ctr">
                        <a:defRPr sz="950">
                          <a:solidFill>
                            <a:srgbClr val="0F172A"/>
                          </a:solidFill>
                        </a:defRPr>
                      </a:pPr>
                      <a:r>
                        <a:t>71.0 ms</a:t>
                      </a:r>
                    </a:p>
                  </a:txBody>
                  <a:tcPr>
                    <a:solidFill>
                      <a:srgbClr val="F1F5F9"/>
                    </a:solidFill>
                  </a:tcPr>
                </a:tc>
                <a:tc>
                  <a:txBody>
                    <a:bodyPr/>
                    <a:lstStyle/>
                    <a:p>
                      <a:pPr algn="ctr">
                        <a:defRPr sz="950">
                          <a:solidFill>
                            <a:srgbClr val="0F172A"/>
                          </a:solidFill>
                        </a:defRPr>
                      </a:pPr>
                      <a:r>
                        <a:t>$46,089.70</a:t>
                      </a:r>
                    </a:p>
                  </a:txBody>
                  <a:tcPr>
                    <a:solidFill>
                      <a:srgbClr val="F1F5F9"/>
                    </a:solidFill>
                  </a:tcPr>
                </a:tc>
                <a:tc>
                  <a:txBody>
                    <a:bodyPr/>
                    <a:lstStyle/>
                    <a:p>
                      <a:pPr algn="ctr">
                        <a:defRPr sz="950">
                          <a:solidFill>
                            <a:srgbClr val="0F172A"/>
                          </a:solidFill>
                        </a:defRPr>
                      </a:pPr>
                      <a:r>
                        <a:t>0 (100% Feasible)</a:t>
                      </a:r>
                    </a:p>
                  </a:txBody>
                  <a:tcPr>
                    <a:solidFill>
                      <a:srgbClr val="F1F5F9"/>
                    </a:solidFill>
                  </a:tcPr>
                </a:tc>
              </a:tr>
              <a:tr h="475488">
                <a:tc>
                  <a:txBody>
                    <a:bodyPr/>
                    <a:lstStyle/>
                    <a:p>
                      <a:pPr>
                        <a:defRPr sz="950" b="1">
                          <a:solidFill>
                            <a:srgbClr val="0F172A"/>
                          </a:solidFill>
                        </a:defRPr>
                      </a:pPr>
                      <a:r>
                        <a:t>What-If: Red Sea Chokepoint</a:t>
                      </a:r>
                    </a:p>
                  </a:txBody>
                  <a:tcPr>
                    <a:solidFill>
                      <a:srgbClr val="FFFFFF"/>
                    </a:solidFill>
                  </a:tcPr>
                </a:tc>
                <a:tc>
                  <a:txBody>
                    <a:bodyPr/>
                    <a:lstStyle/>
                    <a:p>
                      <a:pPr>
                        <a:defRPr sz="950">
                          <a:solidFill>
                            <a:srgbClr val="0F172A"/>
                          </a:solidFill>
                        </a:defRPr>
                      </a:pPr>
                      <a:r>
                        <a:t>Maritime route delay: transit time doubled (2x)</a:t>
                      </a:r>
                    </a:p>
                  </a:txBody>
                  <a:tcPr>
                    <a:solidFill>
                      <a:srgbClr val="FFFFFF"/>
                    </a:solidFill>
                  </a:tcPr>
                </a:tc>
                <a:tc>
                  <a:txBody>
                    <a:bodyPr/>
                    <a:lstStyle/>
                    <a:p>
                      <a:pPr algn="ctr">
                        <a:defRPr sz="950">
                          <a:solidFill>
                            <a:srgbClr val="0F172A"/>
                          </a:solidFill>
                        </a:defRPr>
                      </a:pPr>
                      <a:r>
                        <a:t>14.1 ms</a:t>
                      </a:r>
                    </a:p>
                  </a:txBody>
                  <a:tcPr>
                    <a:solidFill>
                      <a:srgbClr val="FFFFFF"/>
                    </a:solidFill>
                  </a:tcPr>
                </a:tc>
                <a:tc>
                  <a:txBody>
                    <a:bodyPr/>
                    <a:lstStyle/>
                    <a:p>
                      <a:pPr algn="ctr">
                        <a:defRPr sz="950">
                          <a:solidFill>
                            <a:srgbClr val="0F172A"/>
                          </a:solidFill>
                        </a:defRPr>
                      </a:pPr>
                      <a:r>
                        <a:t>148.0 ms</a:t>
                      </a:r>
                    </a:p>
                  </a:txBody>
                  <a:tcPr>
                    <a:solidFill>
                      <a:srgbClr val="FFFFFF"/>
                    </a:solidFill>
                  </a:tcPr>
                </a:tc>
                <a:tc>
                  <a:txBody>
                    <a:bodyPr/>
                    <a:lstStyle/>
                    <a:p>
                      <a:pPr algn="ctr">
                        <a:defRPr sz="950">
                          <a:solidFill>
                            <a:srgbClr val="0F172A"/>
                          </a:solidFill>
                        </a:defRPr>
                      </a:pPr>
                      <a:r>
                        <a:t>$44,120.50</a:t>
                      </a:r>
                    </a:p>
                  </a:txBody>
                  <a:tcPr>
                    <a:solidFill>
                      <a:srgbClr val="FFFFFF"/>
                    </a:solidFill>
                  </a:tcPr>
                </a:tc>
                <a:tc>
                  <a:txBody>
                    <a:bodyPr/>
                    <a:lstStyle/>
                    <a:p>
                      <a:pPr algn="ctr">
                        <a:defRPr sz="950">
                          <a:solidFill>
                            <a:srgbClr val="0F172A"/>
                          </a:solidFill>
                        </a:defRPr>
                      </a:pPr>
                      <a:r>
                        <a:t>0 (100% Feasible)</a:t>
                      </a:r>
                    </a:p>
                  </a:txBody>
                  <a:tcPr>
                    <a:solidFill>
                      <a:srgbClr val="FFFFFF"/>
                    </a:solidFill>
                  </a:tcPr>
                </a:tc>
              </a:tr>
              <a:tr h="475488">
                <a:tc>
                  <a:txBody>
                    <a:bodyPr/>
                    <a:lstStyle/>
                    <a:p>
                      <a:pPr>
                        <a:defRPr sz="950" b="1">
                          <a:solidFill>
                            <a:srgbClr val="0F172A"/>
                          </a:solidFill>
                        </a:defRPr>
                      </a:pPr>
                      <a:r>
                        <a:t>Stress Test: High Volume</a:t>
                      </a:r>
                    </a:p>
                  </a:txBody>
                  <a:tcPr>
                    <a:solidFill>
                      <a:srgbClr val="F1F5F9"/>
                    </a:solidFill>
                  </a:tcPr>
                </a:tc>
                <a:tc>
                  <a:txBody>
                    <a:bodyPr/>
                    <a:lstStyle/>
                    <a:p>
                      <a:pPr>
                        <a:defRPr sz="950">
                          <a:solidFill>
                            <a:srgbClr val="0F172A"/>
                          </a:solidFill>
                        </a:defRPr>
                      </a:pPr>
                      <a:r>
                        <a:t>50,000 units across 10 SKUs and 16 routes</a:t>
                      </a:r>
                    </a:p>
                  </a:txBody>
                  <a:tcPr>
                    <a:solidFill>
                      <a:srgbClr val="F1F5F9"/>
                    </a:solidFill>
                  </a:tcPr>
                </a:tc>
                <a:tc>
                  <a:txBody>
                    <a:bodyPr/>
                    <a:lstStyle/>
                    <a:p>
                      <a:pPr algn="ctr">
                        <a:defRPr sz="950">
                          <a:solidFill>
                            <a:srgbClr val="0F172A"/>
                          </a:solidFill>
                        </a:defRPr>
                      </a:pPr>
                      <a:r>
                        <a:t>38.6 ms</a:t>
                      </a:r>
                    </a:p>
                  </a:txBody>
                  <a:tcPr>
                    <a:solidFill>
                      <a:srgbClr val="F1F5F9"/>
                    </a:solidFill>
                  </a:tcPr>
                </a:tc>
                <a:tc>
                  <a:txBody>
                    <a:bodyPr/>
                    <a:lstStyle/>
                    <a:p>
                      <a:pPr algn="ctr">
                        <a:defRPr sz="950">
                          <a:solidFill>
                            <a:srgbClr val="0F172A"/>
                          </a:solidFill>
                        </a:defRPr>
                      </a:pPr>
                      <a:r>
                        <a:t>310.0 ms</a:t>
                      </a:r>
                    </a:p>
                  </a:txBody>
                  <a:tcPr>
                    <a:solidFill>
                      <a:srgbClr val="F1F5F9"/>
                    </a:solidFill>
                  </a:tcPr>
                </a:tc>
                <a:tc>
                  <a:txBody>
                    <a:bodyPr/>
                    <a:lstStyle/>
                    <a:p>
                      <a:pPr algn="ctr">
                        <a:defRPr sz="950">
                          <a:solidFill>
                            <a:srgbClr val="0F172A"/>
                          </a:solidFill>
                        </a:defRPr>
                      </a:pPr>
                      <a:r>
                        <a:t>$214,500.00</a:t>
                      </a:r>
                    </a:p>
                  </a:txBody>
                  <a:tcPr>
                    <a:solidFill>
                      <a:srgbClr val="F1F5F9"/>
                    </a:solidFill>
                  </a:tcPr>
                </a:tc>
                <a:tc>
                  <a:txBody>
                    <a:bodyPr/>
                    <a:lstStyle/>
                    <a:p>
                      <a:pPr algn="ctr">
                        <a:defRPr sz="950">
                          <a:solidFill>
                            <a:srgbClr val="0F172A"/>
                          </a:solidFill>
                        </a:defRPr>
                      </a:pPr>
                      <a:r>
                        <a:t>0 (100% Feasible)</a:t>
                      </a:r>
                    </a:p>
                  </a:txBody>
                  <a:tcPr>
                    <a:solidFill>
                      <a:srgbClr val="F1F5F9"/>
                    </a:solidFill>
                  </a:tcPr>
                </a:tc>
              </a:tr>
            </a:tbl>
          </a:graphicData>
        </a:graphic>
      </p:graphicFrame>
      <p:sp>
        <p:nvSpPr>
          <p:cNvPr id="9" name="Rounded Rectangle 8"/>
          <p:cNvSpPr/>
          <p:nvPr/>
        </p:nvSpPr>
        <p:spPr>
          <a:xfrm>
            <a:off x="731520" y="4114800"/>
            <a:ext cx="5166360" cy="210312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06240"/>
            <a:ext cx="4800600" cy="1920240"/>
          </a:xfrm>
          <a:prstGeom prst="rect">
            <a:avLst/>
          </a:prstGeom>
          <a:noFill/>
        </p:spPr>
        <p:txBody>
          <a:bodyPr wrap="square">
            <a:spAutoFit/>
          </a:bodyPr>
          <a:lstStyle/>
          <a:p>
            <a:pPr>
              <a:defRPr sz="1100" b="1">
                <a:solidFill>
                  <a:srgbClr val="10B981"/>
                </a:solidFill>
              </a:defRPr>
            </a:pPr>
            <a:r>
              <a:t>ANALYSIS: EMERGENCY SUPPLIER OUTAGE (SUP-C)</a:t>
            </a:r>
          </a:p>
          <a:p>
            <a:pPr>
              <a:defRPr sz="850">
                <a:solidFill>
                  <a:srgbClr val="0F172A"/>
                </a:solidFill>
              </a:defRPr>
            </a:pPr>
            <a:r>
              <a:t>• Response Latency: Computed optimal re-allocation in just 71.0 ms total latency.</a:t>
            </a:r>
          </a:p>
          <a:p>
            <a:pPr>
              <a:defRPr sz="850">
                <a:solidFill>
                  <a:srgbClr val="0F172A"/>
                </a:solidFill>
              </a:defRPr>
            </a:pPr>
            <a:r>
              <a:t>• Autonomous Volume Rerouting: Automatically shifted 6,000 units from offline SUP-C to secondary vendors SUP-A, SUP-B, and SUP-E.</a:t>
            </a:r>
          </a:p>
          <a:p>
            <a:pPr>
              <a:defRPr sz="850">
                <a:solidFill>
                  <a:srgbClr val="0F172A"/>
                </a:solidFill>
              </a:defRPr>
            </a:pPr>
            <a:r>
              <a:t>• Controlled Cost Impact: Total procurement cost rose from $42,868.81 to $46,089.70 — an incremental delta of only +$3,220.89 (+7.5%), completely avoiding an estimated $120,000 factory shutdown.</a:t>
            </a:r>
          </a:p>
        </p:txBody>
      </p:sp>
      <p:sp>
        <p:nvSpPr>
          <p:cNvPr id="11" name="Rounded Rectangle 10"/>
          <p:cNvSpPr/>
          <p:nvPr/>
        </p:nvSpPr>
        <p:spPr>
          <a:xfrm>
            <a:off x="6263640" y="4114800"/>
            <a:ext cx="5166360" cy="210312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206240"/>
            <a:ext cx="4800600" cy="1920240"/>
          </a:xfrm>
          <a:prstGeom prst="rect">
            <a:avLst/>
          </a:prstGeom>
          <a:noFill/>
        </p:spPr>
        <p:txBody>
          <a:bodyPr wrap="square">
            <a:spAutoFit/>
          </a:bodyPr>
          <a:lstStyle/>
          <a:p>
            <a:pPr>
              <a:defRPr sz="1100" b="1">
                <a:solidFill>
                  <a:srgbClr val="1E3A8A"/>
                </a:solidFill>
              </a:defRPr>
            </a:pPr>
            <a:r>
              <a:t>ANALYSIS: MARITIME CHOKEPOINT DELAY</a:t>
            </a:r>
          </a:p>
          <a:p>
            <a:pPr>
              <a:defRPr sz="850">
                <a:solidFill>
                  <a:srgbClr val="0F172A"/>
                </a:solidFill>
              </a:defRPr>
            </a:pPr>
            <a:r>
              <a:t>• Route Disruption Mitigation: When maritime route 4 experienced a 2x delay, the system re-planned transit allocations in 148 ms.</a:t>
            </a:r>
          </a:p>
          <a:p>
            <a:pPr>
              <a:defRPr sz="850">
                <a:solidFill>
                  <a:srgbClr val="0F172A"/>
                </a:solidFill>
              </a:defRPr>
            </a:pPr>
            <a:r>
              <a:t>• Multi-Modal Substitution: Substituted deep-sea shipping with overland rail and regional air freight for critical short-dated inventory.</a:t>
            </a:r>
          </a:p>
          <a:p>
            <a:pPr>
              <a:defRPr sz="850">
                <a:solidFill>
                  <a:srgbClr val="0F172A"/>
                </a:solidFill>
              </a:defRPr>
            </a:pPr>
            <a:r>
              <a:t>• Full SLA Protection: 100% of deliveries met the required warehouse arrival window with zero stockout penalties.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BASELINE COMPARISON</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12. Comparison with Baseline: Objective Performance Matrix</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21</a:t>
            </a:r>
          </a:p>
        </p:txBody>
      </p:sp>
      <p:graphicFrame>
        <p:nvGraphicFramePr>
          <p:cNvPr id="8" name="Table 7"/>
          <p:cNvGraphicFramePr>
            <a:graphicFrameLocks noGrp="1"/>
          </p:cNvGraphicFramePr>
          <p:nvPr/>
        </p:nvGraphicFramePr>
        <p:xfrm>
          <a:off x="731520" y="1463040"/>
          <a:ext cx="10728655" cy="3931920"/>
        </p:xfrm>
        <a:graphic>
          <a:graphicData uri="http://schemas.openxmlformats.org/drawingml/2006/table">
            <a:tbl>
              <a:tblPr firstRow="1" bandRow="1">
                <a:tableStyleId>{5C22544A-7EE6-4342-B048-85BDC9FD1C3A}</a:tableStyleId>
              </a:tblPr>
              <a:tblGrid>
                <a:gridCol w="2286000"/>
                <a:gridCol w="1920240"/>
                <a:gridCol w="2103120"/>
                <a:gridCol w="2011680"/>
                <a:gridCol w="2407615"/>
              </a:tblGrid>
              <a:tr h="561702">
                <a:tc>
                  <a:txBody>
                    <a:bodyPr/>
                    <a:lstStyle/>
                    <a:p>
                      <a:pPr algn="ctr">
                        <a:defRPr sz="1050" b="1">
                          <a:solidFill>
                            <a:srgbClr val="FFFFFF"/>
                          </a:solidFill>
                        </a:defRPr>
                      </a:pPr>
                      <a:r>
                        <a:t>Capability / Feature</a:t>
                      </a:r>
                    </a:p>
                  </a:txBody>
                  <a:tcPr>
                    <a:solidFill>
                      <a:srgbClr val="0F172A"/>
                    </a:solidFill>
                  </a:tcPr>
                </a:tc>
                <a:tc>
                  <a:txBody>
                    <a:bodyPr/>
                    <a:lstStyle/>
                    <a:p>
                      <a:pPr algn="ctr">
                        <a:defRPr sz="1050" b="1">
                          <a:solidFill>
                            <a:srgbClr val="FFFFFF"/>
                          </a:solidFill>
                        </a:defRPr>
                      </a:pPr>
                      <a:r>
                        <a:t>Manual Spreadsheets</a:t>
                      </a:r>
                    </a:p>
                  </a:txBody>
                  <a:tcPr>
                    <a:solidFill>
                      <a:srgbClr val="0F172A"/>
                    </a:solidFill>
                  </a:tcPr>
                </a:tc>
                <a:tc>
                  <a:txBody>
                    <a:bodyPr/>
                    <a:lstStyle/>
                    <a:p>
                      <a:pPr algn="ctr">
                        <a:defRPr sz="1050" b="1">
                          <a:solidFill>
                            <a:srgbClr val="FFFFFF"/>
                          </a:solidFill>
                        </a:defRPr>
                      </a:pPr>
                      <a:r>
                        <a:t>Legacy ERP (SAP / Oracle)</a:t>
                      </a:r>
                    </a:p>
                  </a:txBody>
                  <a:tcPr>
                    <a:solidFill>
                      <a:srgbClr val="0F172A"/>
                    </a:solidFill>
                  </a:tcPr>
                </a:tc>
                <a:tc>
                  <a:txBody>
                    <a:bodyPr/>
                    <a:lstStyle/>
                    <a:p>
                      <a:pPr algn="ctr">
                        <a:defRPr sz="1050" b="1">
                          <a:solidFill>
                            <a:srgbClr val="FFFFFF"/>
                          </a:solidFill>
                        </a:defRPr>
                      </a:pPr>
                      <a:r>
                        <a:t>Monolithic LLM (GPT-4)</a:t>
                      </a:r>
                    </a:p>
                  </a:txBody>
                  <a:tcPr>
                    <a:solidFill>
                      <a:srgbClr val="0F172A"/>
                    </a:solidFill>
                  </a:tcPr>
                </a:tc>
                <a:tc>
                  <a:txBody>
                    <a:bodyPr/>
                    <a:lstStyle/>
                    <a:p>
                      <a:pPr algn="ctr">
                        <a:defRPr sz="1050" b="1">
                          <a:solidFill>
                            <a:srgbClr val="FFFFFF"/>
                          </a:solidFill>
                        </a:defRPr>
                      </a:pPr>
                      <a:r>
                        <a:t>SupplyChainAI (Proposed)</a:t>
                      </a:r>
                    </a:p>
                  </a:txBody>
                  <a:tcPr>
                    <a:solidFill>
                      <a:srgbClr val="0F172A"/>
                    </a:solidFill>
                  </a:tcPr>
                </a:tc>
              </a:tr>
              <a:tr h="561702">
                <a:tc>
                  <a:txBody>
                    <a:bodyPr/>
                    <a:lstStyle/>
                    <a:p>
                      <a:pPr>
                        <a:defRPr sz="950" b="1">
                          <a:solidFill>
                            <a:srgbClr val="0F172A"/>
                          </a:solidFill>
                        </a:defRPr>
                      </a:pPr>
                      <a:r>
                        <a:t>Re-Planning Latency</a:t>
                      </a:r>
                    </a:p>
                  </a:txBody>
                  <a:tcPr>
                    <a:solidFill>
                      <a:srgbClr val="FFFFFF"/>
                    </a:solidFill>
                  </a:tcPr>
                </a:tc>
                <a:tc>
                  <a:txBody>
                    <a:bodyPr/>
                    <a:lstStyle/>
                    <a:p>
                      <a:pPr>
                        <a:defRPr sz="950">
                          <a:solidFill>
                            <a:srgbClr val="0F172A"/>
                          </a:solidFill>
                        </a:defRPr>
                      </a:pPr>
                      <a:r>
                        <a:t>4 to 24 Hours</a:t>
                      </a:r>
                    </a:p>
                  </a:txBody>
                  <a:tcPr>
                    <a:solidFill>
                      <a:srgbClr val="FFFFFF"/>
                    </a:solidFill>
                  </a:tcPr>
                </a:tc>
                <a:tc>
                  <a:txBody>
                    <a:bodyPr/>
                    <a:lstStyle/>
                    <a:p>
                      <a:pPr algn="ctr">
                        <a:defRPr sz="950">
                          <a:solidFill>
                            <a:srgbClr val="0F172A"/>
                          </a:solidFill>
                        </a:defRPr>
                      </a:pPr>
                      <a:r>
                        <a:t>30 to 120 Minutes</a:t>
                      </a:r>
                    </a:p>
                  </a:txBody>
                  <a:tcPr>
                    <a:solidFill>
                      <a:srgbClr val="FFFFFF"/>
                    </a:solidFill>
                  </a:tcPr>
                </a:tc>
                <a:tc>
                  <a:txBody>
                    <a:bodyPr/>
                    <a:lstStyle/>
                    <a:p>
                      <a:pPr algn="ctr">
                        <a:defRPr sz="950">
                          <a:solidFill>
                            <a:srgbClr val="0F172A"/>
                          </a:solidFill>
                        </a:defRPr>
                      </a:pPr>
                      <a:r>
                        <a:t>5 to 15 Seconds</a:t>
                      </a:r>
                    </a:p>
                  </a:txBody>
                  <a:tcPr>
                    <a:solidFill>
                      <a:srgbClr val="FFFFFF"/>
                    </a:solidFill>
                  </a:tcPr>
                </a:tc>
                <a:tc>
                  <a:txBody>
                    <a:bodyPr/>
                    <a:lstStyle/>
                    <a:p>
                      <a:pPr algn="ctr">
                        <a:defRPr sz="950">
                          <a:solidFill>
                            <a:srgbClr val="0F172A"/>
                          </a:solidFill>
                        </a:defRPr>
                      </a:pPr>
                      <a:r>
                        <a:t>&lt; 200 Milliseconds (125 ms)</a:t>
                      </a:r>
                    </a:p>
                  </a:txBody>
                  <a:tcPr>
                    <a:solidFill>
                      <a:srgbClr val="FFFFFF"/>
                    </a:solidFill>
                  </a:tcPr>
                </a:tc>
              </a:tr>
              <a:tr h="561702">
                <a:tc>
                  <a:txBody>
                    <a:bodyPr/>
                    <a:lstStyle/>
                    <a:p>
                      <a:pPr>
                        <a:defRPr sz="950" b="1">
                          <a:solidFill>
                            <a:srgbClr val="0F172A"/>
                          </a:solidFill>
                        </a:defRPr>
                      </a:pPr>
                      <a:r>
                        <a:t>Mathematical Optimality</a:t>
                      </a:r>
                    </a:p>
                  </a:txBody>
                  <a:tcPr>
                    <a:solidFill>
                      <a:srgbClr val="F1F5F9"/>
                    </a:solidFill>
                  </a:tcPr>
                </a:tc>
                <a:tc>
                  <a:txBody>
                    <a:bodyPr/>
                    <a:lstStyle/>
                    <a:p>
                      <a:pPr>
                        <a:defRPr sz="950">
                          <a:solidFill>
                            <a:srgbClr val="0F172A"/>
                          </a:solidFill>
                        </a:defRPr>
                      </a:pPr>
                      <a:r>
                        <a:t>Sub-optimal heuristic</a:t>
                      </a:r>
                    </a:p>
                  </a:txBody>
                  <a:tcPr>
                    <a:solidFill>
                      <a:srgbClr val="F1F5F9"/>
                    </a:solidFill>
                  </a:tcPr>
                </a:tc>
                <a:tc>
                  <a:txBody>
                    <a:bodyPr/>
                    <a:lstStyle/>
                    <a:p>
                      <a:pPr algn="ctr">
                        <a:defRPr sz="950">
                          <a:solidFill>
                            <a:srgbClr val="0F172A"/>
                          </a:solidFill>
                        </a:defRPr>
                      </a:pPr>
                      <a:r>
                        <a:t>Rigid hardcoded rules</a:t>
                      </a:r>
                    </a:p>
                  </a:txBody>
                  <a:tcPr>
                    <a:solidFill>
                      <a:srgbClr val="F1F5F9"/>
                    </a:solidFill>
                  </a:tcPr>
                </a:tc>
                <a:tc>
                  <a:txBody>
                    <a:bodyPr/>
                    <a:lstStyle/>
                    <a:p>
                      <a:pPr algn="ctr">
                        <a:defRPr sz="950">
                          <a:solidFill>
                            <a:srgbClr val="0F172A"/>
                          </a:solidFill>
                        </a:defRPr>
                      </a:pPr>
                      <a:r>
                        <a:t>Prone to arithmetic errors</a:t>
                      </a:r>
                    </a:p>
                  </a:txBody>
                  <a:tcPr>
                    <a:solidFill>
                      <a:srgbClr val="F1F5F9"/>
                    </a:solidFill>
                  </a:tcPr>
                </a:tc>
                <a:tc>
                  <a:txBody>
                    <a:bodyPr/>
                    <a:lstStyle/>
                    <a:p>
                      <a:pPr algn="ctr">
                        <a:defRPr sz="950">
                          <a:solidFill>
                            <a:srgbClr val="0F172A"/>
                          </a:solidFill>
                        </a:defRPr>
                      </a:pPr>
                      <a:r>
                        <a:t>Guaranteed Global Optimum (MILP)</a:t>
                      </a:r>
                    </a:p>
                  </a:txBody>
                  <a:tcPr>
                    <a:solidFill>
                      <a:srgbClr val="F1F5F9"/>
                    </a:solidFill>
                  </a:tcPr>
                </a:tc>
              </a:tr>
              <a:tr h="561702">
                <a:tc>
                  <a:txBody>
                    <a:bodyPr/>
                    <a:lstStyle/>
                    <a:p>
                      <a:pPr>
                        <a:defRPr sz="950" b="1">
                          <a:solidFill>
                            <a:srgbClr val="0F172A"/>
                          </a:solidFill>
                        </a:defRPr>
                      </a:pPr>
                      <a:r>
                        <a:t>Unstructured Contract RAG</a:t>
                      </a:r>
                    </a:p>
                  </a:txBody>
                  <a:tcPr>
                    <a:solidFill>
                      <a:srgbClr val="FFFFFF"/>
                    </a:solidFill>
                  </a:tcPr>
                </a:tc>
                <a:tc>
                  <a:txBody>
                    <a:bodyPr/>
                    <a:lstStyle/>
                    <a:p>
                      <a:pPr>
                        <a:defRPr sz="950">
                          <a:solidFill>
                            <a:srgbClr val="0F172A"/>
                          </a:solidFill>
                        </a:defRPr>
                      </a:pPr>
                      <a:r>
                        <a:t>Manual document reading</a:t>
                      </a:r>
                    </a:p>
                  </a:txBody>
                  <a:tcPr>
                    <a:solidFill>
                      <a:srgbClr val="FFFFFF"/>
                    </a:solidFill>
                  </a:tcPr>
                </a:tc>
                <a:tc>
                  <a:txBody>
                    <a:bodyPr/>
                    <a:lstStyle/>
                    <a:p>
                      <a:pPr algn="ctr">
                        <a:defRPr sz="950">
                          <a:solidFill>
                            <a:srgbClr val="0F172A"/>
                          </a:solidFill>
                        </a:defRPr>
                      </a:pPr>
                      <a:r>
                        <a:t>None (completely ignored)</a:t>
                      </a:r>
                    </a:p>
                  </a:txBody>
                  <a:tcPr>
                    <a:solidFill>
                      <a:srgbClr val="FFFFFF"/>
                    </a:solidFill>
                  </a:tcPr>
                </a:tc>
                <a:tc>
                  <a:txBody>
                    <a:bodyPr/>
                    <a:lstStyle/>
                    <a:p>
                      <a:pPr algn="ctr">
                        <a:defRPr sz="950">
                          <a:solidFill>
                            <a:srgbClr val="0F172A"/>
                          </a:solidFill>
                        </a:defRPr>
                      </a:pPr>
                      <a:r>
                        <a:t>Context window limits</a:t>
                      </a:r>
                    </a:p>
                  </a:txBody>
                  <a:tcPr>
                    <a:solidFill>
                      <a:srgbClr val="FFFFFF"/>
                    </a:solidFill>
                  </a:tcPr>
                </a:tc>
                <a:tc>
                  <a:txBody>
                    <a:bodyPr/>
                    <a:lstStyle/>
                    <a:p>
                      <a:pPr algn="ctr">
                        <a:defRPr sz="950">
                          <a:solidFill>
                            <a:srgbClr val="0F172A"/>
                          </a:solidFill>
                        </a:defRPr>
                      </a:pPr>
                      <a:r>
                        <a:t>Hybrid RAG (pgvector + BM25 RRF)</a:t>
                      </a:r>
                    </a:p>
                  </a:txBody>
                  <a:tcPr>
                    <a:solidFill>
                      <a:srgbClr val="FFFFFF"/>
                    </a:solidFill>
                  </a:tcPr>
                </a:tc>
              </a:tr>
              <a:tr h="561702">
                <a:tc>
                  <a:txBody>
                    <a:bodyPr/>
                    <a:lstStyle/>
                    <a:p>
                      <a:pPr>
                        <a:defRPr sz="950" b="1">
                          <a:solidFill>
                            <a:srgbClr val="0F172A"/>
                          </a:solidFill>
                        </a:defRPr>
                      </a:pPr>
                      <a:r>
                        <a:t>Autonomous Self-Correction</a:t>
                      </a:r>
                    </a:p>
                  </a:txBody>
                  <a:tcPr>
                    <a:solidFill>
                      <a:srgbClr val="F1F5F9"/>
                    </a:solidFill>
                  </a:tcPr>
                </a:tc>
                <a:tc>
                  <a:txBody>
                    <a:bodyPr/>
                    <a:lstStyle/>
                    <a:p>
                      <a:pPr>
                        <a:defRPr sz="950">
                          <a:solidFill>
                            <a:srgbClr val="0F172A"/>
                          </a:solidFill>
                        </a:defRPr>
                      </a:pPr>
                      <a:r>
                        <a:t>None (Human must notice)</a:t>
                      </a:r>
                    </a:p>
                  </a:txBody>
                  <a:tcPr>
                    <a:solidFill>
                      <a:srgbClr val="F1F5F9"/>
                    </a:solidFill>
                  </a:tcPr>
                </a:tc>
                <a:tc>
                  <a:txBody>
                    <a:bodyPr/>
                    <a:lstStyle/>
                    <a:p>
                      <a:pPr algn="ctr">
                        <a:defRPr sz="950">
                          <a:solidFill>
                            <a:srgbClr val="0F172A"/>
                          </a:solidFill>
                        </a:defRPr>
                      </a:pPr>
                      <a:r>
                        <a:t>None (Throws batch error)</a:t>
                      </a:r>
                    </a:p>
                  </a:txBody>
                  <a:tcPr>
                    <a:solidFill>
                      <a:srgbClr val="F1F5F9"/>
                    </a:solidFill>
                  </a:tcPr>
                </a:tc>
                <a:tc>
                  <a:txBody>
                    <a:bodyPr/>
                    <a:lstStyle/>
                    <a:p>
                      <a:pPr algn="ctr">
                        <a:defRPr sz="950">
                          <a:solidFill>
                            <a:srgbClr val="0F172A"/>
                          </a:solidFill>
                        </a:defRPr>
                      </a:pPr>
                      <a:r>
                        <a:t>Hallucinatory loops</a:t>
                      </a:r>
                    </a:p>
                  </a:txBody>
                  <a:tcPr>
                    <a:solidFill>
                      <a:srgbClr val="F1F5F9"/>
                    </a:solidFill>
                  </a:tcPr>
                </a:tc>
                <a:tc>
                  <a:txBody>
                    <a:bodyPr/>
                    <a:lstStyle/>
                    <a:p>
                      <a:pPr algn="ctr">
                        <a:defRPr sz="950">
                          <a:solidFill>
                            <a:srgbClr val="0F172A"/>
                          </a:solidFill>
                        </a:defRPr>
                      </a:pPr>
                      <a:r>
                        <a:t>Reflective Agentic StateGraph Loop</a:t>
                      </a:r>
                    </a:p>
                  </a:txBody>
                  <a:tcPr>
                    <a:solidFill>
                      <a:srgbClr val="F1F5F9"/>
                    </a:solidFill>
                  </a:tcPr>
                </a:tc>
              </a:tr>
              <a:tr h="561702">
                <a:tc>
                  <a:txBody>
                    <a:bodyPr/>
                    <a:lstStyle/>
                    <a:p>
                      <a:pPr>
                        <a:defRPr sz="950" b="1">
                          <a:solidFill>
                            <a:srgbClr val="0F172A"/>
                          </a:solidFill>
                        </a:defRPr>
                      </a:pPr>
                      <a:r>
                        <a:t>Auditability &amp; Citations</a:t>
                      </a:r>
                    </a:p>
                  </a:txBody>
                  <a:tcPr>
                    <a:solidFill>
                      <a:srgbClr val="FFFFFF"/>
                    </a:solidFill>
                  </a:tcPr>
                </a:tc>
                <a:tc>
                  <a:txBody>
                    <a:bodyPr/>
                    <a:lstStyle/>
                    <a:p>
                      <a:pPr>
                        <a:defRPr sz="950">
                          <a:solidFill>
                            <a:srgbClr val="0F172A"/>
                          </a:solidFill>
                        </a:defRPr>
                      </a:pPr>
                      <a:r>
                        <a:t>None / Email chains</a:t>
                      </a:r>
                    </a:p>
                  </a:txBody>
                  <a:tcPr>
                    <a:solidFill>
                      <a:srgbClr val="FFFFFF"/>
                    </a:solidFill>
                  </a:tcPr>
                </a:tc>
                <a:tc>
                  <a:txBody>
                    <a:bodyPr/>
                    <a:lstStyle/>
                    <a:p>
                      <a:pPr algn="ctr">
                        <a:defRPr sz="950">
                          <a:solidFill>
                            <a:srgbClr val="0F172A"/>
                          </a:solidFill>
                        </a:defRPr>
                      </a:pPr>
                      <a:r>
                        <a:t>Cryptic numeric codes</a:t>
                      </a:r>
                    </a:p>
                  </a:txBody>
                  <a:tcPr>
                    <a:solidFill>
                      <a:srgbClr val="FFFFFF"/>
                    </a:solidFill>
                  </a:tcPr>
                </a:tc>
                <a:tc>
                  <a:txBody>
                    <a:bodyPr/>
                    <a:lstStyle/>
                    <a:p>
                      <a:pPr algn="ctr">
                        <a:defRPr sz="950">
                          <a:solidFill>
                            <a:srgbClr val="0F172A"/>
                          </a:solidFill>
                        </a:defRPr>
                      </a:pPr>
                      <a:r>
                        <a:t>Unverified assertions</a:t>
                      </a:r>
                    </a:p>
                  </a:txBody>
                  <a:tcPr>
                    <a:solidFill>
                      <a:srgbClr val="FFFFFF"/>
                    </a:solidFill>
                  </a:tcPr>
                </a:tc>
                <a:tc>
                  <a:txBody>
                    <a:bodyPr/>
                    <a:lstStyle/>
                    <a:p>
                      <a:pPr algn="ctr">
                        <a:defRPr sz="950">
                          <a:solidFill>
                            <a:srgbClr val="0F172A"/>
                          </a:solidFill>
                        </a:defRPr>
                      </a:pPr>
                      <a:r>
                        <a:t>Verifiable Legal Contract Citations</a:t>
                      </a:r>
                    </a:p>
                  </a:txBody>
                  <a:tcPr>
                    <a:solidFill>
                      <a:srgbClr val="FFFFFF"/>
                    </a:solidFill>
                  </a:tcPr>
                </a:tc>
              </a:tr>
              <a:tr h="561708">
                <a:tc>
                  <a:txBody>
                    <a:bodyPr/>
                    <a:lstStyle/>
                    <a:p>
                      <a:pPr>
                        <a:defRPr sz="950" b="1">
                          <a:solidFill>
                            <a:srgbClr val="0F172A"/>
                          </a:solidFill>
                        </a:defRPr>
                      </a:pPr>
                      <a:r>
                        <a:t>Human-in-the-Loop Governance</a:t>
                      </a:r>
                    </a:p>
                  </a:txBody>
                  <a:tcPr>
                    <a:solidFill>
                      <a:srgbClr val="F1F5F9"/>
                    </a:solidFill>
                  </a:tcPr>
                </a:tc>
                <a:tc>
                  <a:txBody>
                    <a:bodyPr/>
                    <a:lstStyle/>
                    <a:p>
                      <a:pPr>
                        <a:defRPr sz="950">
                          <a:solidFill>
                            <a:srgbClr val="0F172A"/>
                          </a:solidFill>
                        </a:defRPr>
                      </a:pPr>
                      <a:r>
                        <a:t>Manual approval delay</a:t>
                      </a:r>
                    </a:p>
                  </a:txBody>
                  <a:tcPr>
                    <a:solidFill>
                      <a:srgbClr val="F1F5F9"/>
                    </a:solidFill>
                  </a:tcPr>
                </a:tc>
                <a:tc>
                  <a:txBody>
                    <a:bodyPr/>
                    <a:lstStyle/>
                    <a:p>
                      <a:pPr algn="ctr">
                        <a:defRPr sz="950">
                          <a:solidFill>
                            <a:srgbClr val="0F172A"/>
                          </a:solidFill>
                        </a:defRPr>
                      </a:pPr>
                      <a:r>
                        <a:t>Complex bureaucratic workflows</a:t>
                      </a:r>
                    </a:p>
                  </a:txBody>
                  <a:tcPr>
                    <a:solidFill>
                      <a:srgbClr val="F1F5F9"/>
                    </a:solidFill>
                  </a:tcPr>
                </a:tc>
                <a:tc>
                  <a:txBody>
                    <a:bodyPr/>
                    <a:lstStyle/>
                    <a:p>
                      <a:pPr algn="ctr">
                        <a:defRPr sz="950">
                          <a:solidFill>
                            <a:srgbClr val="0F172A"/>
                          </a:solidFill>
                        </a:defRPr>
                      </a:pPr>
                      <a:r>
                        <a:t>No built-in approval gate</a:t>
                      </a:r>
                    </a:p>
                  </a:txBody>
                  <a:tcPr>
                    <a:solidFill>
                      <a:srgbClr val="F1F5F9"/>
                    </a:solidFill>
                  </a:tcPr>
                </a:tc>
                <a:tc>
                  <a:txBody>
                    <a:bodyPr/>
                    <a:lstStyle/>
                    <a:p>
                      <a:pPr algn="ctr">
                        <a:defRPr sz="950">
                          <a:solidFill>
                            <a:srgbClr val="0F172A"/>
                          </a:solidFill>
                        </a:defRPr>
                      </a:pPr>
                      <a:r>
                        <a:t>Interactive 1-Click React 18 Gate</a:t>
                      </a:r>
                    </a:p>
                  </a:txBody>
                  <a:tcPr>
                    <a:solidFill>
                      <a:srgbClr val="F1F5F9"/>
                    </a:solidFill>
                  </a:tcPr>
                </a:tc>
              </a:tr>
            </a:tbl>
          </a:graphicData>
        </a:graphic>
      </p:graphicFrame>
      <p:sp>
        <p:nvSpPr>
          <p:cNvPr id="9" name="Rounded Rectangle 8"/>
          <p:cNvSpPr/>
          <p:nvPr/>
        </p:nvSpPr>
        <p:spPr>
          <a:xfrm>
            <a:off x="731520" y="5623560"/>
            <a:ext cx="10728655" cy="685800"/>
          </a:xfrm>
          <a:prstGeom prst="roundRect">
            <a:avLst/>
          </a:prstGeom>
          <a:solidFill>
            <a:srgbClr val="0F172A"/>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15000"/>
            <a:ext cx="10362895" cy="502920"/>
          </a:xfrm>
          <a:prstGeom prst="rect">
            <a:avLst/>
          </a:prstGeom>
          <a:noFill/>
        </p:spPr>
        <p:txBody>
          <a:bodyPr wrap="square">
            <a:spAutoFit/>
          </a:bodyPr>
          <a:lstStyle/>
          <a:p>
            <a:pPr algn="ctr">
              <a:defRPr sz="900" b="1">
                <a:solidFill>
                  <a:srgbClr val="FFFFFF"/>
                </a:solidFill>
              </a:defRPr>
            </a:pPr>
            <a:r>
              <a:t>Summary: SupplyChainAI bridges the gap between rigid, blind legacy ERP systems and flexible but hallucination-prone generative models, delivering fast, mathematically guaranteed, and contractually grounded decisions.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INNOVATION</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Innovation and Advantages: Core Technical Contributions</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22</a:t>
            </a:r>
          </a:p>
        </p:txBody>
      </p:sp>
      <p:sp>
        <p:nvSpPr>
          <p:cNvPr id="8" name="Rounded Rectangle 7"/>
          <p:cNvSpPr/>
          <p:nvPr/>
        </p:nvSpPr>
        <p:spPr>
          <a:xfrm>
            <a:off x="731520" y="1463040"/>
            <a:ext cx="5166360" cy="475488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00200"/>
            <a:ext cx="4800600" cy="4480560"/>
          </a:xfrm>
          <a:prstGeom prst="rect">
            <a:avLst/>
          </a:prstGeom>
          <a:noFill/>
        </p:spPr>
        <p:txBody>
          <a:bodyPr wrap="square">
            <a:spAutoFit/>
          </a:bodyPr>
          <a:lstStyle/>
          <a:p>
            <a:pPr>
              <a:defRPr sz="1100" b="1">
                <a:solidFill>
                  <a:srgbClr val="6D28D9"/>
                </a:solidFill>
              </a:defRPr>
            </a:pPr>
            <a:r>
              <a:t>CORE TECHNICAL INNOVATIONS</a:t>
            </a:r>
          </a:p>
          <a:p>
            <a:pPr>
              <a:defRPr sz="850">
                <a:solidFill>
                  <a:srgbClr val="0F172A"/>
                </a:solidFill>
              </a:defRPr>
            </a:pPr>
            <a:r>
              <a:t>• 1. Neuro-Symbolic Decoupled Architecture: Pioneered a robust hybrid model where LLMs handle natural language understanding and strategic planning, while Google OR-Tools executes all numerical calculations, completely eliminating calculation errors.</a:t>
            </a:r>
          </a:p>
          <a:p>
            <a:pPr>
              <a:defRPr sz="850">
                <a:solidFill>
                  <a:srgbClr val="0F172A"/>
                </a:solidFill>
              </a:defRPr>
            </a:pPr>
            <a:r>
              <a:t>• 2. Cyclical LangGraph State Orchestration: Implemented a self-healing state graph where the Evaluator Agent adversarially inspects plans and triggers bounded replanning cycles, resolving constraint violations without system crashes.</a:t>
            </a:r>
          </a:p>
          <a:p>
            <a:pPr>
              <a:defRPr sz="850">
                <a:solidFill>
                  <a:srgbClr val="0F172A"/>
                </a:solidFill>
              </a:defRPr>
            </a:pPr>
            <a:r>
              <a:t>• 3. Domain-Specific Dual-Stream Hybrid RAG: Engineered an enterprise RAG pipeline blending 768-dim dense semantic embeddings with BM25 sparse matching via Reciprocal Rank Fusion, achieving exact legal clause retrieval.</a:t>
            </a:r>
          </a:p>
          <a:p>
            <a:pPr>
              <a:defRPr sz="850">
                <a:solidFill>
                  <a:srgbClr val="0F172A"/>
                </a:solidFill>
              </a:defRPr>
            </a:pPr>
            <a:r>
              <a:t>• 4. Seamless Human-in-the-Loop Integration: Unified autonomous background execution with explicit human oversight, providing complete decision transparency before any transaction executes.</a:t>
            </a:r>
          </a:p>
        </p:txBody>
      </p:sp>
      <p:sp>
        <p:nvSpPr>
          <p:cNvPr id="10" name="Rounded Rectangle 9"/>
          <p:cNvSpPr/>
          <p:nvPr/>
        </p:nvSpPr>
        <p:spPr>
          <a:xfrm>
            <a:off x="6263640" y="1463040"/>
            <a:ext cx="5166360" cy="4754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600200"/>
            <a:ext cx="4800600" cy="4480560"/>
          </a:xfrm>
          <a:prstGeom prst="rect">
            <a:avLst/>
          </a:prstGeom>
          <a:noFill/>
        </p:spPr>
        <p:txBody>
          <a:bodyPr wrap="square">
            <a:spAutoFit/>
          </a:bodyPr>
          <a:lstStyle/>
          <a:p>
            <a:pPr>
              <a:defRPr sz="1100" b="1">
                <a:solidFill>
                  <a:srgbClr val="10B981"/>
                </a:solidFill>
              </a:defRPr>
            </a:pPr>
            <a:r>
              <a:t>CONCRETE ENTERPRISE ADVANTAGES</a:t>
            </a:r>
          </a:p>
          <a:p>
            <a:pPr>
              <a:defRPr sz="850">
                <a:solidFill>
                  <a:srgbClr val="0F172A"/>
                </a:solidFill>
              </a:defRPr>
            </a:pPr>
            <a:r>
              <a:t>• 1. 99%+ Reduction in Triage Time: Reduces procurement re-planning from hours of frantic spreadsheet analysis to sub-200 milliseconds, enabling proactive rather than reactive response.</a:t>
            </a:r>
          </a:p>
          <a:p>
            <a:pPr>
              <a:defRPr sz="850">
                <a:solidFill>
                  <a:srgbClr val="0F172A"/>
                </a:solidFill>
              </a:defRPr>
            </a:pPr>
            <a:r>
              <a:t>• 2. Guaranteed Cost Minimization: Mathematical optimization identifies non-obvious multi-supplier splits that minimize total landed cost, saving 5–15% compared to manual heuristics.</a:t>
            </a:r>
          </a:p>
          <a:p>
            <a:pPr>
              <a:defRPr sz="850">
                <a:solidFill>
                  <a:srgbClr val="0F172A"/>
                </a:solidFill>
              </a:defRPr>
            </a:pPr>
            <a:r>
              <a:t>• 3. Elimination of Stockout Risk: Automated fallback routing prevents catastrophic plant shutdowns when primary suppliers suffer unexpected outages.</a:t>
            </a:r>
          </a:p>
          <a:p>
            <a:pPr>
              <a:defRPr sz="850">
                <a:solidFill>
                  <a:srgbClr val="0F172A"/>
                </a:solidFill>
              </a:defRPr>
            </a:pPr>
            <a:r>
              <a:t>• 4. Regulatory Compliance &amp; Audit Readiness: Every order decision is cryptographically logged with explicit legal clause citations, ensuring complete auditability for corporate governance.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SCALABILITY &amp; DEPLOYMENT</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Scalability Architecture &amp; Real-World Applicability</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23</a:t>
            </a:r>
          </a:p>
        </p:txBody>
      </p:sp>
      <p:sp>
        <p:nvSpPr>
          <p:cNvPr id="8" name="Rounded Rectangle 7"/>
          <p:cNvSpPr/>
          <p:nvPr/>
        </p:nvSpPr>
        <p:spPr>
          <a:xfrm>
            <a:off x="731520" y="1463040"/>
            <a:ext cx="5166360" cy="233172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4892040" cy="2057400"/>
          </a:xfrm>
          <a:prstGeom prst="rect">
            <a:avLst/>
          </a:prstGeom>
          <a:noFill/>
        </p:spPr>
        <p:txBody>
          <a:bodyPr wrap="square">
            <a:spAutoFit/>
          </a:bodyPr>
          <a:lstStyle/>
          <a:p>
            <a:pPr>
              <a:defRPr sz="1100" b="1">
                <a:solidFill>
                  <a:srgbClr val="1E3A8A"/>
                </a:solidFill>
              </a:defRPr>
            </a:pPr>
            <a:r>
              <a:t>HORIZONTAL MICROSERVICE SCALABILITY</a:t>
            </a:r>
          </a:p>
          <a:p>
            <a:pPr>
              <a:defRPr sz="850">
                <a:solidFill>
                  <a:srgbClr val="0F172A"/>
                </a:solidFill>
              </a:defRPr>
            </a:pPr>
            <a:r>
              <a:t>• Stateless Agent Workers: FastAPI and LangGraph instances scale horizontally across distributed container clusters behind a load balancer.</a:t>
            </a:r>
          </a:p>
          <a:p>
            <a:pPr>
              <a:defRPr sz="850">
                <a:solidFill>
                  <a:srgbClr val="0F172A"/>
                </a:solidFill>
              </a:defRPr>
            </a:pPr>
            <a:r>
              <a:t>• Asynchronous Non-Blocking IO: Handles hundreds of concurrent disruption queries without thread starvation.</a:t>
            </a:r>
          </a:p>
        </p:txBody>
      </p:sp>
      <p:sp>
        <p:nvSpPr>
          <p:cNvPr id="10" name="Rounded Rectangle 9"/>
          <p:cNvSpPr/>
          <p:nvPr/>
        </p:nvSpPr>
        <p:spPr>
          <a:xfrm>
            <a:off x="6263640" y="1463040"/>
            <a:ext cx="5166360" cy="233172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00200"/>
            <a:ext cx="4892040" cy="2057400"/>
          </a:xfrm>
          <a:prstGeom prst="rect">
            <a:avLst/>
          </a:prstGeom>
          <a:noFill/>
        </p:spPr>
        <p:txBody>
          <a:bodyPr wrap="square">
            <a:spAutoFit/>
          </a:bodyPr>
          <a:lstStyle/>
          <a:p>
            <a:pPr>
              <a:defRPr sz="1100" b="1">
                <a:solidFill>
                  <a:srgbClr val="6D28D9"/>
                </a:solidFill>
              </a:defRPr>
            </a:pPr>
            <a:r>
              <a:t>ENTERPRISE DATA &amp; KNOWLEDGE SCALABILITY</a:t>
            </a:r>
          </a:p>
          <a:p>
            <a:pPr>
              <a:defRPr sz="850">
                <a:solidFill>
                  <a:srgbClr val="0F172A"/>
                </a:solidFill>
              </a:defRPr>
            </a:pPr>
            <a:r>
              <a:t>• High-Capacity Vector Storage: PostgreSQL pgvector with HNSW indexing maintains sub-10ms query times over 1,000,000+ document chunks.</a:t>
            </a:r>
          </a:p>
          <a:p>
            <a:pPr>
              <a:defRPr sz="850">
                <a:solidFill>
                  <a:srgbClr val="0F172A"/>
                </a:solidFill>
              </a:defRPr>
            </a:pPr>
            <a:r>
              <a:t>• Partitioned Telemetry Tables: Time-series order and inventory tables partitioned by month for rapid indexing.</a:t>
            </a:r>
          </a:p>
        </p:txBody>
      </p:sp>
      <p:sp>
        <p:nvSpPr>
          <p:cNvPr id="12" name="Rounded Rectangle 11"/>
          <p:cNvSpPr/>
          <p:nvPr/>
        </p:nvSpPr>
        <p:spPr>
          <a:xfrm>
            <a:off x="731520" y="3931920"/>
            <a:ext cx="5166360" cy="233172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69080"/>
            <a:ext cx="4892040" cy="2057400"/>
          </a:xfrm>
          <a:prstGeom prst="rect">
            <a:avLst/>
          </a:prstGeom>
          <a:noFill/>
        </p:spPr>
        <p:txBody>
          <a:bodyPr wrap="square">
            <a:spAutoFit/>
          </a:bodyPr>
          <a:lstStyle/>
          <a:p>
            <a:pPr>
              <a:defRPr sz="1100" b="1">
                <a:solidFill>
                  <a:srgbClr val="0284C7"/>
                </a:solidFill>
              </a:defRPr>
            </a:pPr>
            <a:r>
              <a:t>MODEL &amp; RUNTIME AGNOSTICISM</a:t>
            </a:r>
          </a:p>
          <a:p>
            <a:pPr>
              <a:defRPr sz="850">
                <a:solidFill>
                  <a:srgbClr val="0F172A"/>
                </a:solidFill>
              </a:defRPr>
            </a:pPr>
            <a:r>
              <a:t>• Hybrid Inference Gateway: Supports local on-premise SLMs (DeepSeek-R1-14B) for air-gapped security or ultra-fast cloud LLMs (Llama-3.1, GPT-4o-mini).</a:t>
            </a:r>
          </a:p>
          <a:p>
            <a:pPr>
              <a:defRPr sz="850">
                <a:solidFill>
                  <a:srgbClr val="0F172A"/>
                </a:solidFill>
              </a:defRPr>
            </a:pPr>
            <a:r>
              <a:t>• Cost-Effective Serving: Token-efficient prompt construction keeps operational API costs negligible.</a:t>
            </a:r>
          </a:p>
        </p:txBody>
      </p:sp>
      <p:sp>
        <p:nvSpPr>
          <p:cNvPr id="14" name="Rounded Rectangle 13"/>
          <p:cNvSpPr/>
          <p:nvPr/>
        </p:nvSpPr>
        <p:spPr>
          <a:xfrm>
            <a:off x="6263640" y="3931920"/>
            <a:ext cx="5166360" cy="233172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69080"/>
            <a:ext cx="4892040" cy="2057400"/>
          </a:xfrm>
          <a:prstGeom prst="rect">
            <a:avLst/>
          </a:prstGeom>
          <a:noFill/>
        </p:spPr>
        <p:txBody>
          <a:bodyPr wrap="square">
            <a:spAutoFit/>
          </a:bodyPr>
          <a:lstStyle/>
          <a:p>
            <a:pPr>
              <a:defRPr sz="1100" b="1">
                <a:solidFill>
                  <a:srgbClr val="D97706"/>
                </a:solidFill>
              </a:defRPr>
            </a:pPr>
            <a:r>
              <a:t>REAL-WORLD ENTERPRISE INTEGRATION</a:t>
            </a:r>
          </a:p>
          <a:p>
            <a:pPr>
              <a:defRPr sz="850">
                <a:solidFill>
                  <a:srgbClr val="0F172A"/>
                </a:solidFill>
              </a:defRPr>
            </a:pPr>
            <a:r>
              <a:t>• Pre-Built ERP Adapters: Standard REST and Webhook connectors for SAP S/4HANA, Oracle SCM Cloud, and Microsoft Dynamics 365.</a:t>
            </a:r>
          </a:p>
          <a:p>
            <a:pPr>
              <a:defRPr sz="850">
                <a:solidFill>
                  <a:srgbClr val="0F172A"/>
                </a:solidFill>
              </a:defRPr>
            </a:pPr>
            <a:r>
              <a:t>• Multi-Sector Applicability: Directly deployable across Automotive Assembly, Consumer Electronics, and Pharmaceuticals.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CONCLUSION</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13. Conclusion: Summary of Research &amp; Contributions</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24</a:t>
            </a:r>
          </a:p>
        </p:txBody>
      </p:sp>
      <p:sp>
        <p:nvSpPr>
          <p:cNvPr id="8" name="Rounded Rectangle 7"/>
          <p:cNvSpPr/>
          <p:nvPr/>
        </p:nvSpPr>
        <p:spPr>
          <a:xfrm>
            <a:off x="731520" y="1463040"/>
            <a:ext cx="10728655" cy="868680"/>
          </a:xfrm>
          <a:prstGeom prst="roundRect">
            <a:avLst/>
          </a:prstGeom>
          <a:solidFill>
            <a:srgbClr val="FFFFFF"/>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00200"/>
            <a:ext cx="594360" cy="5943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10" name="TextBox 9"/>
          <p:cNvSpPr txBox="1"/>
          <p:nvPr/>
        </p:nvSpPr>
        <p:spPr>
          <a:xfrm>
            <a:off x="1600200" y="1536192"/>
            <a:ext cx="9692640" cy="731520"/>
          </a:xfrm>
          <a:prstGeom prst="rect">
            <a:avLst/>
          </a:prstGeom>
          <a:noFill/>
        </p:spPr>
        <p:txBody>
          <a:bodyPr wrap="square">
            <a:spAutoFit/>
          </a:bodyPr>
          <a:lstStyle/>
          <a:p>
            <a:pPr>
              <a:defRPr sz="1100" b="1">
                <a:solidFill>
                  <a:srgbClr val="0F172A"/>
                </a:solidFill>
              </a:defRPr>
            </a:pPr>
            <a:r>
              <a:t>1. Autonomous Supply Chain Resilience</a:t>
            </a:r>
          </a:p>
          <a:p>
            <a:pPr>
              <a:defRPr sz="900">
                <a:solidFill>
                  <a:srgbClr val="475569"/>
                </a:solidFill>
              </a:defRPr>
            </a:pPr>
            <a:r>
              <a:t>Successfully engineered and validated an autonomous multi-agent framework capable of continuous disruption perception, diagnostic triaging, and real-time procurement re-planning.</a:t>
            </a:r>
          </a:p>
        </p:txBody>
      </p:sp>
      <p:sp>
        <p:nvSpPr>
          <p:cNvPr id="11" name="Rounded Rectangle 10"/>
          <p:cNvSpPr/>
          <p:nvPr/>
        </p:nvSpPr>
        <p:spPr>
          <a:xfrm>
            <a:off x="731520" y="2423160"/>
            <a:ext cx="10728655" cy="86868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560320"/>
            <a:ext cx="594360" cy="5943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13" name="TextBox 12"/>
          <p:cNvSpPr txBox="1"/>
          <p:nvPr/>
        </p:nvSpPr>
        <p:spPr>
          <a:xfrm>
            <a:off x="1600200" y="2496312"/>
            <a:ext cx="9692640" cy="731520"/>
          </a:xfrm>
          <a:prstGeom prst="rect">
            <a:avLst/>
          </a:prstGeom>
          <a:noFill/>
        </p:spPr>
        <p:txBody>
          <a:bodyPr wrap="square">
            <a:spAutoFit/>
          </a:bodyPr>
          <a:lstStyle/>
          <a:p>
            <a:pPr>
              <a:defRPr sz="1100" b="1">
                <a:solidFill>
                  <a:srgbClr val="0F172A"/>
                </a:solidFill>
              </a:defRPr>
            </a:pPr>
            <a:r>
              <a:t>2. Pioneered Neuro-Symbolic Mathematical Rigor</a:t>
            </a:r>
          </a:p>
          <a:p>
            <a:pPr>
              <a:defRPr sz="900">
                <a:solidFill>
                  <a:srgbClr val="475569"/>
                </a:solidFill>
              </a:defRPr>
            </a:pPr>
            <a:r>
              <a:t>Eliminated generative AI hallucinations in critical resource allocation by coupling LangGraph with Google OR-Tools Mixed-Integer Linear Programming, guaranteeing 100% constraint satisfaction.</a:t>
            </a:r>
          </a:p>
        </p:txBody>
      </p:sp>
      <p:sp>
        <p:nvSpPr>
          <p:cNvPr id="14" name="Rounded Rectangle 13"/>
          <p:cNvSpPr/>
          <p:nvPr/>
        </p:nvSpPr>
        <p:spPr>
          <a:xfrm>
            <a:off x="731520" y="3383280"/>
            <a:ext cx="10728655" cy="8686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3520440"/>
            <a:ext cx="594360" cy="5943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6" name="TextBox 15"/>
          <p:cNvSpPr txBox="1"/>
          <p:nvPr/>
        </p:nvSpPr>
        <p:spPr>
          <a:xfrm>
            <a:off x="1600200" y="3456432"/>
            <a:ext cx="9692640" cy="731520"/>
          </a:xfrm>
          <a:prstGeom prst="rect">
            <a:avLst/>
          </a:prstGeom>
          <a:noFill/>
        </p:spPr>
        <p:txBody>
          <a:bodyPr wrap="square">
            <a:spAutoFit/>
          </a:bodyPr>
          <a:lstStyle/>
          <a:p>
            <a:pPr>
              <a:defRPr sz="1100" b="1">
                <a:solidFill>
                  <a:srgbClr val="0F172A"/>
                </a:solidFill>
              </a:defRPr>
            </a:pPr>
            <a:r>
              <a:t>3. Sub-Second Re-Planning Performance</a:t>
            </a:r>
          </a:p>
          <a:p>
            <a:pPr>
              <a:defRPr sz="900">
                <a:solidFill>
                  <a:srgbClr val="475569"/>
                </a:solidFill>
              </a:defRPr>
            </a:pPr>
            <a:r>
              <a:t>Demonstrated exceptional empirical latency — computing optimal multi-supplier allocations for 10,000 units in 125 ms, and executing complete emergency supplier rerouting in just 71 ms.</a:t>
            </a:r>
          </a:p>
        </p:txBody>
      </p:sp>
      <p:sp>
        <p:nvSpPr>
          <p:cNvPr id="17" name="Rounded Rectangle 16"/>
          <p:cNvSpPr/>
          <p:nvPr/>
        </p:nvSpPr>
        <p:spPr>
          <a:xfrm>
            <a:off x="731520" y="4343400"/>
            <a:ext cx="10728655" cy="86868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4480560"/>
            <a:ext cx="594360" cy="5943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9" name="TextBox 18"/>
          <p:cNvSpPr txBox="1"/>
          <p:nvPr/>
        </p:nvSpPr>
        <p:spPr>
          <a:xfrm>
            <a:off x="1600200" y="4416552"/>
            <a:ext cx="9692640" cy="731520"/>
          </a:xfrm>
          <a:prstGeom prst="rect">
            <a:avLst/>
          </a:prstGeom>
          <a:noFill/>
        </p:spPr>
        <p:txBody>
          <a:bodyPr wrap="square">
            <a:spAutoFit/>
          </a:bodyPr>
          <a:lstStyle/>
          <a:p>
            <a:pPr>
              <a:defRPr sz="1100" b="1">
                <a:solidFill>
                  <a:srgbClr val="0F172A"/>
                </a:solidFill>
              </a:defRPr>
            </a:pPr>
            <a:r>
              <a:t>4. Grounded Legal &amp; SLA Compliance</a:t>
            </a:r>
          </a:p>
          <a:p>
            <a:pPr>
              <a:defRPr sz="900">
                <a:solidFill>
                  <a:srgbClr val="475569"/>
                </a:solidFill>
              </a:defRPr>
            </a:pPr>
            <a:r>
              <a:t>Developed an enterprise Hybrid Agentic RAG architecture (dense pgvector + sparse BM25 with Reciprocal Rank Fusion) that grounds every procurement action in verifiable contractual terms.</a:t>
            </a:r>
          </a:p>
        </p:txBody>
      </p:sp>
      <p:sp>
        <p:nvSpPr>
          <p:cNvPr id="20" name="Rounded Rectangle 19"/>
          <p:cNvSpPr/>
          <p:nvPr/>
        </p:nvSpPr>
        <p:spPr>
          <a:xfrm>
            <a:off x="731520" y="5303520"/>
            <a:ext cx="10728655" cy="8686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5440680"/>
            <a:ext cx="59436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22" name="TextBox 21"/>
          <p:cNvSpPr txBox="1"/>
          <p:nvPr/>
        </p:nvSpPr>
        <p:spPr>
          <a:xfrm>
            <a:off x="1600200" y="5376672"/>
            <a:ext cx="9692640" cy="731520"/>
          </a:xfrm>
          <a:prstGeom prst="rect">
            <a:avLst/>
          </a:prstGeom>
          <a:noFill/>
        </p:spPr>
        <p:txBody>
          <a:bodyPr wrap="square">
            <a:spAutoFit/>
          </a:bodyPr>
          <a:lstStyle/>
          <a:p>
            <a:pPr>
              <a:defRPr sz="1100" b="1">
                <a:solidFill>
                  <a:srgbClr val="0F172A"/>
                </a:solidFill>
              </a:defRPr>
            </a:pPr>
            <a:r>
              <a:t>5. Production-Ready Full-Stack Engineering</a:t>
            </a:r>
          </a:p>
          <a:p>
            <a:pPr>
              <a:defRPr sz="900">
                <a:solidFill>
                  <a:srgbClr val="475569"/>
                </a:solidFill>
              </a:defRPr>
            </a:pPr>
            <a:r>
              <a:t>Delivered an enterprise-grade prototype featuring a modern React 18 frontend, FastAPI backend, containerized PostgreSQL database, and 100% verified test suite (19/19 passing).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229600" cy="320040"/>
          </a:xfrm>
          <a:prstGeom prst="rect">
            <a:avLst/>
          </a:prstGeom>
          <a:noFill/>
        </p:spPr>
        <p:txBody>
          <a:bodyPr wrap="square" lIns="0" tIns="0" rIns="0" bIns="0">
            <a:spAutoFit/>
          </a:bodyPr>
          <a:lstStyle/>
          <a:p>
            <a:pPr>
              <a:defRPr sz="1000" b="1">
                <a:solidFill>
                  <a:srgbClr val="6D28D9"/>
                </a:solidFill>
              </a:defRPr>
            </a:pPr>
            <a:r>
              <a:t>RAJALAKSHMI ENGINEERING COLLEGE  |  FUTURE WORK</a:t>
            </a:r>
          </a:p>
        </p:txBody>
      </p:sp>
      <p:sp>
        <p:nvSpPr>
          <p:cNvPr id="4" name="TextBox 3"/>
          <p:cNvSpPr txBox="1"/>
          <p:nvPr/>
        </p:nvSpPr>
        <p:spPr>
          <a:xfrm>
            <a:off x="731520" y="685800"/>
            <a:ext cx="9326880" cy="548640"/>
          </a:xfrm>
          <a:prstGeom prst="rect">
            <a:avLst/>
          </a:prstGeom>
          <a:noFill/>
        </p:spPr>
        <p:txBody>
          <a:bodyPr wrap="square" lIns="0" tIns="0" rIns="0" bIns="0">
            <a:spAutoFit/>
          </a:bodyPr>
          <a:lstStyle/>
          <a:p>
            <a:pPr>
              <a:defRPr sz="2200" b="1">
                <a:solidFill>
                  <a:srgbClr val="0F172A"/>
                </a:solidFill>
              </a:defRPr>
            </a:pPr>
            <a:r>
              <a:t>Future Work: Research Extensions &amp; Industry Roadmap</a:t>
            </a:r>
          </a:p>
        </p:txBody>
      </p:sp>
      <p:pic>
        <p:nvPicPr>
          <p:cNvPr id="5" name="Picture 4" descr="Screenshot 2026-09-28 234056.png"/>
          <p:cNvPicPr>
            <a:picLocks noChangeAspect="1"/>
          </p:cNvPicPr>
          <p:nvPr/>
        </p:nvPicPr>
        <p:blipFill>
          <a:blip r:embed="rId2"/>
          <a:stretch>
            <a:fillRect/>
          </a:stretch>
        </p:blipFill>
        <p:spPr>
          <a:xfrm>
            <a:off x="10789920" y="320040"/>
            <a:ext cx="577844" cy="868680"/>
          </a:xfrm>
          <a:prstGeom prst="rect">
            <a:avLst/>
          </a:prstGeom>
        </p:spPr>
      </p:pic>
      <p:sp>
        <p:nvSpPr>
          <p:cNvPr id="6" name="Rectangle 5"/>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446520"/>
            <a:ext cx="10728655" cy="274320"/>
          </a:xfrm>
          <a:prstGeom prst="rect">
            <a:avLst/>
          </a:prstGeom>
          <a:noFill/>
        </p:spPr>
        <p:txBody>
          <a:bodyPr wrap="square" lIns="0" tIns="0" rIns="0" bIns="0">
            <a:spAutoFit/>
          </a:bodyPr>
          <a:lstStyle/>
          <a:p>
            <a:pPr>
              <a:defRPr sz="900">
                <a:solidFill>
                  <a:srgbClr val="94A3B8"/>
                </a:solidFill>
              </a:defRPr>
            </a:pPr>
            <a:r>
              <a:t>SupplyChainAI: Autonomous Multi-Agent Supply Chain Optimization  |  Dept. of AIML, REC  |  Slide 25</a:t>
            </a:r>
          </a:p>
        </p:txBody>
      </p:sp>
      <p:sp>
        <p:nvSpPr>
          <p:cNvPr id="8" name="Rounded Rectangle 7"/>
          <p:cNvSpPr/>
          <p:nvPr/>
        </p:nvSpPr>
        <p:spPr>
          <a:xfrm>
            <a:off x="731520" y="1463040"/>
            <a:ext cx="10728655" cy="868680"/>
          </a:xfrm>
          <a:prstGeom prst="roundRect">
            <a:avLst/>
          </a:prstGeom>
          <a:solidFill>
            <a:srgbClr val="FFFFFF"/>
          </a:solidFill>
          <a:ln w="1524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00200"/>
            <a:ext cx="594360" cy="5943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10" name="TextBox 9"/>
          <p:cNvSpPr txBox="1"/>
          <p:nvPr/>
        </p:nvSpPr>
        <p:spPr>
          <a:xfrm>
            <a:off x="1600200" y="1536192"/>
            <a:ext cx="9692640" cy="731520"/>
          </a:xfrm>
          <a:prstGeom prst="rect">
            <a:avLst/>
          </a:prstGeom>
          <a:noFill/>
        </p:spPr>
        <p:txBody>
          <a:bodyPr wrap="square">
            <a:spAutoFit/>
          </a:bodyPr>
          <a:lstStyle/>
          <a:p>
            <a:pPr>
              <a:defRPr sz="1100" b="1">
                <a:solidFill>
                  <a:srgbClr val="0F172A"/>
                </a:solidFill>
              </a:defRPr>
            </a:pPr>
            <a:r>
              <a:t>Deep Predictive Disruption Forecasting</a:t>
            </a:r>
          </a:p>
          <a:p>
            <a:pPr>
              <a:defRPr sz="900">
                <a:solidFill>
                  <a:srgbClr val="475569"/>
                </a:solidFill>
              </a:defRPr>
            </a:pPr>
            <a:r>
              <a:t>Incorporate Temporal Fusion Transformers (TFT) and graph neural networks to forecast supplier risk and demand volatility 30–60 days ahead of physical events.</a:t>
            </a:r>
          </a:p>
        </p:txBody>
      </p:sp>
      <p:sp>
        <p:nvSpPr>
          <p:cNvPr id="11" name="Rounded Rectangle 10"/>
          <p:cNvSpPr/>
          <p:nvPr/>
        </p:nvSpPr>
        <p:spPr>
          <a:xfrm>
            <a:off x="731520" y="2423160"/>
            <a:ext cx="10728655" cy="868680"/>
          </a:xfrm>
          <a:prstGeom prst="roundRect">
            <a:avLst/>
          </a:prstGeom>
          <a:solidFill>
            <a:srgbClr val="FFFFFF"/>
          </a:solidFill>
          <a:ln w="1524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560320"/>
            <a:ext cx="594360" cy="5943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13" name="TextBox 12"/>
          <p:cNvSpPr txBox="1"/>
          <p:nvPr/>
        </p:nvSpPr>
        <p:spPr>
          <a:xfrm>
            <a:off x="1600200" y="2496312"/>
            <a:ext cx="9692640" cy="731520"/>
          </a:xfrm>
          <a:prstGeom prst="rect">
            <a:avLst/>
          </a:prstGeom>
          <a:noFill/>
        </p:spPr>
        <p:txBody>
          <a:bodyPr wrap="square">
            <a:spAutoFit/>
          </a:bodyPr>
          <a:lstStyle/>
          <a:p>
            <a:pPr>
              <a:defRPr sz="1100" b="1">
                <a:solidFill>
                  <a:srgbClr val="0F172A"/>
                </a:solidFill>
              </a:defRPr>
            </a:pPr>
            <a:r>
              <a:t>Real-Time Maritime IoT &amp; AIS Telematics</a:t>
            </a:r>
          </a:p>
          <a:p>
            <a:pPr>
              <a:defRPr sz="900">
                <a:solidFill>
                  <a:srgbClr val="475569"/>
                </a:solidFill>
              </a:defRPr>
            </a:pPr>
            <a:r>
              <a:t>Integrate live Automatic Identification System (AIS) maritime vessel tracking and port congestion APIs for automated en-route container rerouting.</a:t>
            </a:r>
          </a:p>
        </p:txBody>
      </p:sp>
      <p:sp>
        <p:nvSpPr>
          <p:cNvPr id="14" name="Rounded Rectangle 13"/>
          <p:cNvSpPr/>
          <p:nvPr/>
        </p:nvSpPr>
        <p:spPr>
          <a:xfrm>
            <a:off x="731520" y="3383280"/>
            <a:ext cx="10728655" cy="8686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3520440"/>
            <a:ext cx="594360" cy="594360"/>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6" name="TextBox 15"/>
          <p:cNvSpPr txBox="1"/>
          <p:nvPr/>
        </p:nvSpPr>
        <p:spPr>
          <a:xfrm>
            <a:off x="1600200" y="3456432"/>
            <a:ext cx="9692640" cy="731520"/>
          </a:xfrm>
          <a:prstGeom prst="rect">
            <a:avLst/>
          </a:prstGeom>
          <a:noFill/>
        </p:spPr>
        <p:txBody>
          <a:bodyPr wrap="square">
            <a:spAutoFit/>
          </a:bodyPr>
          <a:lstStyle/>
          <a:p>
            <a:pPr>
              <a:defRPr sz="1100" b="1">
                <a:solidFill>
                  <a:srgbClr val="0F172A"/>
                </a:solidFill>
              </a:defRPr>
            </a:pPr>
            <a:r>
              <a:t>Multi-Tier Deep Supplier Network Mapping</a:t>
            </a:r>
          </a:p>
          <a:p>
            <a:pPr>
              <a:defRPr sz="900">
                <a:solidFill>
                  <a:srgbClr val="475569"/>
                </a:solidFill>
              </a:defRPr>
            </a:pPr>
            <a:r>
              <a:t>Extend dependency graph tracking into Tier-2 and Tier-3 sub-suppliers to uncover hidden common-supplier bottlenecks before disruptions occur.</a:t>
            </a:r>
          </a:p>
        </p:txBody>
      </p:sp>
      <p:sp>
        <p:nvSpPr>
          <p:cNvPr id="17" name="Rounded Rectangle 16"/>
          <p:cNvSpPr/>
          <p:nvPr/>
        </p:nvSpPr>
        <p:spPr>
          <a:xfrm>
            <a:off x="731520" y="4343400"/>
            <a:ext cx="10728655" cy="8686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4480560"/>
            <a:ext cx="59436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9" name="TextBox 18"/>
          <p:cNvSpPr txBox="1"/>
          <p:nvPr/>
        </p:nvSpPr>
        <p:spPr>
          <a:xfrm>
            <a:off x="1600200" y="4416552"/>
            <a:ext cx="9692640" cy="731520"/>
          </a:xfrm>
          <a:prstGeom prst="rect">
            <a:avLst/>
          </a:prstGeom>
          <a:noFill/>
        </p:spPr>
        <p:txBody>
          <a:bodyPr wrap="square">
            <a:spAutoFit/>
          </a:bodyPr>
          <a:lstStyle/>
          <a:p>
            <a:pPr>
              <a:defRPr sz="1100" b="1">
                <a:solidFill>
                  <a:srgbClr val="0F172A"/>
                </a:solidFill>
              </a:defRPr>
            </a:pPr>
            <a:r>
              <a:t>Multi-Objective ESG &amp; Carbon Optimization</a:t>
            </a:r>
          </a:p>
          <a:p>
            <a:pPr>
              <a:defRPr sz="900">
                <a:solidFill>
                  <a:srgbClr val="475569"/>
                </a:solidFill>
              </a:defRPr>
            </a:pPr>
            <a:r>
              <a:t>Formulate carbon emission footprints (CO2e) directly into the MILP objective function alongside landed cost and transit lead times.</a:t>
            </a:r>
          </a:p>
        </p:txBody>
      </p:sp>
      <p:sp>
        <p:nvSpPr>
          <p:cNvPr id="20" name="Rounded Rectangle 19"/>
          <p:cNvSpPr/>
          <p:nvPr/>
        </p:nvSpPr>
        <p:spPr>
          <a:xfrm>
            <a:off x="731520" y="5303520"/>
            <a:ext cx="10728655" cy="86868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5440680"/>
            <a:ext cx="594360" cy="5943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22" name="TextBox 21"/>
          <p:cNvSpPr txBox="1"/>
          <p:nvPr/>
        </p:nvSpPr>
        <p:spPr>
          <a:xfrm>
            <a:off x="1600200" y="5376672"/>
            <a:ext cx="9692640" cy="731520"/>
          </a:xfrm>
          <a:prstGeom prst="rect">
            <a:avLst/>
          </a:prstGeom>
          <a:noFill/>
        </p:spPr>
        <p:txBody>
          <a:bodyPr wrap="square">
            <a:spAutoFit/>
          </a:bodyPr>
          <a:lstStyle/>
          <a:p>
            <a:pPr>
              <a:defRPr sz="1100" b="1">
                <a:solidFill>
                  <a:srgbClr val="0F172A"/>
                </a:solidFill>
              </a:defRPr>
            </a:pPr>
            <a:r>
              <a:t>Continuous Reinforcement Learning (RLHF)</a:t>
            </a:r>
          </a:p>
          <a:p>
            <a:pPr>
              <a:defRPr sz="900">
                <a:solidFill>
                  <a:srgbClr val="475569"/>
                </a:solidFill>
              </a:defRPr>
            </a:pPr>
            <a:r>
              <a:t>Implement Reinforcement Learning from Human Feedback (RLHF) to refine agent prompt policies based on historical manager override patterns.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creenshot 2026-09-28 234056.png"/>
          <p:cNvPicPr>
            <a:picLocks noChangeAspect="1"/>
          </p:cNvPicPr>
          <p:nvPr/>
        </p:nvPicPr>
        <p:blipFill>
          <a:blip r:embed="rId2"/>
          <a:stretch>
            <a:fillRect/>
          </a:stretch>
        </p:blipFill>
        <p:spPr>
          <a:xfrm>
            <a:off x="5440680" y="822960"/>
            <a:ext cx="851560" cy="1280160"/>
          </a:xfrm>
          <a:prstGeom prst="rect">
            <a:avLst/>
          </a:prstGeom>
        </p:spPr>
      </p:pic>
      <p:sp>
        <p:nvSpPr>
          <p:cNvPr id="4" name="TextBox 3"/>
          <p:cNvSpPr txBox="1"/>
          <p:nvPr/>
        </p:nvSpPr>
        <p:spPr>
          <a:xfrm>
            <a:off x="914400" y="2240280"/>
            <a:ext cx="10362895" cy="548640"/>
          </a:xfrm>
          <a:prstGeom prst="rect">
            <a:avLst/>
          </a:prstGeom>
          <a:noFill/>
        </p:spPr>
        <p:txBody>
          <a:bodyPr wrap="square">
            <a:spAutoFit/>
          </a:bodyPr>
          <a:lstStyle/>
          <a:p>
            <a:pPr algn="ctr">
              <a:defRPr sz="2400" b="1">
                <a:solidFill>
                  <a:srgbClr val="FFFFFF"/>
                </a:solidFill>
              </a:defRPr>
            </a:pPr>
            <a:r>
              <a:t>RAJALAKSHMI ENGINEERING COLLEGE</a:t>
            </a:r>
          </a:p>
          <a:p>
            <a:pPr algn="ctr">
              <a:defRPr sz="1300">
                <a:solidFill>
                  <a:srgbClr val="D97706"/>
                </a:solidFill>
              </a:defRPr>
            </a:pPr>
            <a:r>
              <a:t>Department of Artificial Intelligence and Machine Learning</a:t>
            </a:r>
          </a:p>
        </p:txBody>
      </p:sp>
      <p:sp>
        <p:nvSpPr>
          <p:cNvPr id="5" name="TextBox 4"/>
          <p:cNvSpPr txBox="1"/>
          <p:nvPr/>
        </p:nvSpPr>
        <p:spPr>
          <a:xfrm>
            <a:off x="1097280" y="3108960"/>
            <a:ext cx="9997135" cy="1371600"/>
          </a:xfrm>
          <a:prstGeom prst="rect">
            <a:avLst/>
          </a:prstGeom>
          <a:noFill/>
        </p:spPr>
        <p:txBody>
          <a:bodyPr wrap="square">
            <a:spAutoFit/>
          </a:bodyPr>
          <a:lstStyle/>
          <a:p>
            <a:pPr algn="ctr">
              <a:defRPr sz="3600" b="1">
                <a:solidFill>
                  <a:srgbClr val="38BDF8"/>
                </a:solidFill>
              </a:defRPr>
            </a:pPr>
            <a:r>
              <a:t>THANK YOU!</a:t>
            </a:r>
          </a:p>
          <a:p>
            <a:pPr algn="ctr">
              <a:defRPr sz="2000" b="1">
                <a:solidFill>
                  <a:srgbClr val="F1F5F9"/>
                </a:solidFill>
              </a:defRPr>
            </a:pPr>
            <a:r>
              <a:t>Questions &amp; Discussion</a:t>
            </a:r>
          </a:p>
        </p:txBody>
      </p:sp>
      <p:sp>
        <p:nvSpPr>
          <p:cNvPr id="6" name="TextBox 5"/>
          <p:cNvSpPr txBox="1"/>
          <p:nvPr/>
        </p:nvSpPr>
        <p:spPr>
          <a:xfrm>
            <a:off x="1371600" y="4846320"/>
            <a:ext cx="9448495" cy="1097280"/>
          </a:xfrm>
          <a:prstGeom prst="rect">
            <a:avLst/>
          </a:prstGeom>
          <a:noFill/>
        </p:spPr>
        <p:txBody>
          <a:bodyPr wrap="square">
            <a:spAutoFit/>
          </a:bodyPr>
          <a:lstStyle/>
          <a:p>
            <a:pPr algn="ctr">
              <a:defRPr sz="1300" b="1">
                <a:solidFill>
                  <a:srgbClr val="94A3B8"/>
                </a:solidFill>
              </a:defRPr>
            </a:pPr>
            <a:r>
              <a:t>SupplyChainAI: An Autonomous Multi-Agent System for Resilient Supply Chain Re-Planning</a:t>
            </a:r>
          </a:p>
          <a:p>
            <a:pPr algn="ctr">
              <a:defRPr sz="1100">
                <a:solidFill>
                  <a:srgbClr val="D97706"/>
                </a:solidFill>
              </a:defRPr>
            </a:pPr>
            <a:r>
              <a:t>Final Year Engineering Project  •  Academic Year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